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jpg" ContentType="image/jpg"/>
  <Override PartName="/ppt/media/image6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6" r:id="rId7"/>
    <p:sldId id="265" r:id="rId8"/>
    <p:sldId id="267" r:id="rId9"/>
    <p:sldId id="263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71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68360" y="4316356"/>
            <a:ext cx="9883140" cy="161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0561" y="860309"/>
            <a:ext cx="18362976" cy="1229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7509" y="4320937"/>
            <a:ext cx="8454390" cy="395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305,302 Cloud Computing Blue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72"/>
          <a:stretch/>
        </p:blipFill>
        <p:spPr bwMode="auto">
          <a:xfrm>
            <a:off x="1060450" y="1004050"/>
            <a:ext cx="18516600" cy="929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bject 2"/>
          <p:cNvSpPr txBox="1">
            <a:spLocks/>
          </p:cNvSpPr>
          <p:nvPr/>
        </p:nvSpPr>
        <p:spPr>
          <a:xfrm>
            <a:off x="2889250" y="6157268"/>
            <a:ext cx="7086600" cy="338546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48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Presenters</a:t>
            </a:r>
            <a:r>
              <a:rPr lang="en-US" sz="4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: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Ayesha Azeem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Alina Rafi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Naeema</a:t>
            </a: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 Hamid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Fatima Ahmed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Lubaina</a:t>
            </a: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 Zafar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5" name="object 3"/>
          <p:cNvSpPr txBox="1"/>
          <p:nvPr/>
        </p:nvSpPr>
        <p:spPr>
          <a:xfrm>
            <a:off x="8375650" y="4962318"/>
            <a:ext cx="1021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558290" algn="l"/>
                <a:tab pos="6588125" algn="l"/>
              </a:tabLst>
            </a:pPr>
            <a:r>
              <a:rPr lang="en-US" sz="4400" b="1" spc="3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Intelli</a:t>
            </a:r>
            <a:r>
              <a:rPr 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 xml:space="preserve">gent Sol</a:t>
            </a:r>
            <a:r>
              <a:rPr lang="en-US" sz="4400" b="1" spc="38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u</a:t>
            </a:r>
            <a:r>
              <a:rPr 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tion</a:t>
            </a:r>
            <a:r>
              <a:rPr lang="en-US" sz="4400" b="1" spc="32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s </a:t>
            </a:r>
            <a:r>
              <a:rPr 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for </a:t>
            </a:r>
            <a:r>
              <a:rPr lang="en-US" sz="4400" b="1" spc="30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M</a:t>
            </a:r>
            <a:r>
              <a:rPr lang="en-US" sz="4400" b="1" spc="-1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odern En</a:t>
            </a:r>
            <a:r>
              <a:rPr lang="en-US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t</a:t>
            </a:r>
            <a:r>
              <a:rPr lang="en-US" sz="4400" b="1" spc="-6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erprise</a:t>
            </a:r>
            <a:endParaRPr lang="en-US" sz="4400" b="1" dirty="0">
              <a:solidFill>
                <a:schemeClr val="tx2">
                  <a:lumMod val="40000"/>
                  <a:lumOff val="6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6" name="object 2"/>
          <p:cNvSpPr txBox="1">
            <a:spLocks/>
          </p:cNvSpPr>
          <p:nvPr/>
        </p:nvSpPr>
        <p:spPr>
          <a:xfrm>
            <a:off x="4032250" y="2664917"/>
            <a:ext cx="17068800" cy="194091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35"/>
              </a:spcBef>
            </a:pPr>
            <a:r>
              <a:rPr lang="en-US" sz="12500" b="1" spc="385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Google Cloud AI </a:t>
            </a:r>
            <a:r>
              <a:rPr lang="en-US" sz="12500" b="1" spc="-575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Cap</a:t>
            </a:r>
            <a:r>
              <a:rPr lang="en-US" sz="12500" b="1" spc="335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abilit</a:t>
            </a:r>
            <a:r>
              <a:rPr lang="en-US" sz="12500" b="1" spc="-7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ies</a:t>
            </a:r>
            <a:endParaRPr lang="en-US" sz="12500" b="1" dirty="0">
              <a:solidFill>
                <a:schemeClr val="accent5">
                  <a:lumMod val="20000"/>
                  <a:lumOff val="80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8743" y="1771584"/>
            <a:ext cx="18362976" cy="1022603"/>
          </a:xfrm>
          <a:prstGeom prst="rect">
            <a:avLst/>
          </a:prstGeom>
        </p:spPr>
        <p:txBody>
          <a:bodyPr vert="horz" wrap="square" lIns="0" tIns="98313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30"/>
              </a:spcBef>
            </a:pPr>
            <a:r>
              <a:rPr sz="6000" b="1" spc="300" dirty="0">
                <a:solidFill>
                  <a:srgbClr val="4285EF"/>
                </a:solidFill>
              </a:rPr>
              <a:t>Cloud A</a:t>
            </a:r>
            <a:r>
              <a:rPr sz="6000" b="1" spc="-135" dirty="0">
                <a:solidFill>
                  <a:srgbClr val="4285EF"/>
                </a:solidFill>
              </a:rPr>
              <a:t>I:</a:t>
            </a:r>
            <a:r>
              <a:rPr sz="6000" b="1" dirty="0">
                <a:solidFill>
                  <a:srgbClr val="4285F4"/>
                </a:solidFill>
              </a:rPr>
              <a:t> Fou</a:t>
            </a:r>
            <a:r>
              <a:rPr sz="6000" b="1" spc="-484" dirty="0">
                <a:solidFill>
                  <a:srgbClr val="4285F4"/>
                </a:solidFill>
              </a:rPr>
              <a:t>nd</a:t>
            </a:r>
            <a:r>
              <a:rPr sz="6000" b="1" spc="75" dirty="0">
                <a:solidFill>
                  <a:srgbClr val="3B8AEB"/>
                </a:solidFill>
              </a:rPr>
              <a:t>ations an</a:t>
            </a:r>
            <a:r>
              <a:rPr sz="6000" b="1" spc="-240" dirty="0">
                <a:solidFill>
                  <a:srgbClr val="3B8AEB"/>
                </a:solidFill>
              </a:rPr>
              <a:t>d </a:t>
            </a:r>
            <a:r>
              <a:rPr sz="6000" b="1" spc="-25" dirty="0">
                <a:solidFill>
                  <a:srgbClr val="4D7EF7"/>
                </a:solidFill>
              </a:rPr>
              <a:t>Value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6518" y="3983835"/>
            <a:ext cx="7943850" cy="104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8000"/>
              </a:lnSpc>
              <a:spcBef>
                <a:spcPts val="100"/>
              </a:spcBef>
              <a:tabLst>
                <a:tab pos="723900" algn="l"/>
              </a:tabLst>
            </a:pPr>
            <a:r>
              <a:rPr sz="3100" b="1" spc="9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Art</a:t>
            </a:r>
            <a:r>
              <a:rPr sz="310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i</a:t>
            </a:r>
            <a:r>
              <a:rPr sz="3100" b="1" spc="-6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f</a:t>
            </a:r>
            <a:r>
              <a:rPr sz="3100" dirty="0">
                <a:solidFill>
                  <a:srgbClr val="131313"/>
                </a:solidFill>
                <a:latin typeface="Arial MT"/>
                <a:cs typeface="Arial MT"/>
              </a:rPr>
              <a:t>icial Intellig</a:t>
            </a:r>
            <a:r>
              <a:rPr sz="3100" spc="285" dirty="0">
                <a:solidFill>
                  <a:srgbClr val="131313"/>
                </a:solidFill>
                <a:latin typeface="Arial MT"/>
                <a:cs typeface="Arial MT"/>
              </a:rPr>
              <a:t>e</a:t>
            </a:r>
            <a:r>
              <a:rPr sz="3100" dirty="0">
                <a:solidFill>
                  <a:srgbClr val="161616"/>
                </a:solidFill>
                <a:latin typeface="Arial MT"/>
                <a:cs typeface="Arial MT"/>
              </a:rPr>
              <a:t>nce: S</a:t>
            </a:r>
            <a:r>
              <a:rPr sz="3100" spc="200" dirty="0">
                <a:solidFill>
                  <a:srgbClr val="161616"/>
                </a:solidFill>
                <a:latin typeface="Arial MT"/>
                <a:cs typeface="Arial MT"/>
              </a:rPr>
              <a:t>y</a:t>
            </a: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stems </a:t>
            </a:r>
            <a:r>
              <a:rPr sz="3100" spc="150" dirty="0">
                <a:solidFill>
                  <a:srgbClr val="111111"/>
                </a:solidFill>
                <a:latin typeface="Arial MT"/>
                <a:cs typeface="Arial MT"/>
              </a:rPr>
              <a:t>t</a:t>
            </a:r>
            <a:r>
              <a:rPr sz="3100" dirty="0">
                <a:solidFill>
                  <a:srgbClr val="151515"/>
                </a:solidFill>
                <a:latin typeface="Arial MT"/>
                <a:cs typeface="Arial MT"/>
              </a:rPr>
              <a:t>hat emulate </a:t>
            </a:r>
            <a:r>
              <a:rPr sz="3100" spc="400" dirty="0">
                <a:solidFill>
                  <a:srgbClr val="151515"/>
                </a:solidFill>
                <a:latin typeface="Arial MT"/>
                <a:cs typeface="Arial MT"/>
              </a:rPr>
              <a:t>hu</a:t>
            </a:r>
            <a:r>
              <a:rPr lang="en-US" sz="3100" spc="400" dirty="0" smtClean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3100" spc="-10" dirty="0" smtClean="0">
                <a:solidFill>
                  <a:srgbClr val="181818"/>
                </a:solidFill>
                <a:latin typeface="Arial MT"/>
                <a:cs typeface="Arial MT"/>
              </a:rPr>
              <a:t>man cogn</a:t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itiv</a:t>
            </a:r>
            <a:r>
              <a:rPr sz="3100" spc="114" dirty="0">
                <a:solidFill>
                  <a:srgbClr val="0F0F0F"/>
                </a:solidFill>
                <a:latin typeface="Arial MT"/>
                <a:cs typeface="Arial MT"/>
              </a:rPr>
              <a:t>e</a:t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 functi</a:t>
            </a:r>
            <a:r>
              <a:rPr sz="3100" spc="65" dirty="0">
                <a:solidFill>
                  <a:srgbClr val="0F0F0F"/>
                </a:solidFill>
                <a:latin typeface="Arial MT"/>
                <a:cs typeface="Arial MT"/>
              </a:rPr>
              <a:t>o</a:t>
            </a:r>
            <a:r>
              <a:rPr sz="3100" dirty="0">
                <a:solidFill>
                  <a:srgbClr val="181818"/>
                </a:solidFill>
                <a:latin typeface="Arial MT"/>
                <a:cs typeface="Arial MT"/>
              </a:rPr>
              <a:t>ns to solve</a:t>
            </a:r>
            <a:r>
              <a:rPr sz="3100" spc="280" dirty="0">
                <a:solidFill>
                  <a:srgbClr val="181818"/>
                </a:solidFill>
                <a:latin typeface="Arial MT"/>
                <a:cs typeface="Arial MT"/>
              </a:rPr>
              <a:t> c</a:t>
            </a:r>
            <a:r>
              <a:rPr sz="3100" dirty="0">
                <a:solidFill>
                  <a:srgbClr val="0C0C0C"/>
                </a:solidFill>
                <a:latin typeface="Arial MT"/>
                <a:cs typeface="Arial MT"/>
              </a:rPr>
              <a:t>omple</a:t>
            </a:r>
            <a:r>
              <a:rPr sz="3100" spc="55" dirty="0">
                <a:solidFill>
                  <a:srgbClr val="0C0C0C"/>
                </a:solidFill>
                <a:latin typeface="Arial MT"/>
                <a:cs typeface="Arial MT"/>
              </a:rPr>
              <a:t>x</a:t>
            </a:r>
            <a:r>
              <a:rPr sz="3100" spc="-10" dirty="0">
                <a:solidFill>
                  <a:srgbClr val="111111"/>
                </a:solidFill>
                <a:latin typeface="Arial MT"/>
                <a:cs typeface="Arial MT"/>
              </a:rPr>
              <a:t> problems.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54" y="5354144"/>
            <a:ext cx="8624570" cy="10758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>
              <a:lnSpc>
                <a:spcPct val="107900"/>
              </a:lnSpc>
              <a:spcBef>
                <a:spcPts val="95"/>
              </a:spcBef>
              <a:tabLst>
                <a:tab pos="739775" algn="l"/>
              </a:tabLst>
            </a:pPr>
            <a:r>
              <a:rPr sz="3200" b="1" spc="-4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Cloud</a:t>
            </a:r>
            <a:r>
              <a:rPr sz="3200" b="1" spc="-185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 I</a:t>
            </a:r>
            <a:r>
              <a:rPr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nfrastru</a:t>
            </a:r>
            <a:r>
              <a:rPr sz="3200" b="1" dirty="0">
                <a:solidFill>
                  <a:srgbClr val="050505"/>
                </a:solidFill>
                <a:latin typeface="Arial MT"/>
                <a:cs typeface="Arial MT"/>
              </a:rPr>
              <a:t>ct</a:t>
            </a:r>
            <a:r>
              <a:rPr sz="3200" b="1" spc="-210" dirty="0">
                <a:solidFill>
                  <a:srgbClr val="050505"/>
                </a:solidFill>
                <a:latin typeface="Arial MT"/>
                <a:cs typeface="Arial MT"/>
              </a:rPr>
              <a:t>ur</a:t>
            </a:r>
            <a:r>
              <a:rPr sz="3200" dirty="0">
                <a:solidFill>
                  <a:srgbClr val="131313"/>
                </a:solidFill>
                <a:latin typeface="Arial MT"/>
                <a:cs typeface="Arial MT"/>
              </a:rPr>
              <a:t>e: Scalable, h</a:t>
            </a:r>
            <a:r>
              <a:rPr sz="3200" spc="-5" dirty="0">
                <a:solidFill>
                  <a:srgbClr val="131313"/>
                </a:solidFill>
                <a:latin typeface="Arial MT"/>
                <a:cs typeface="Arial MT"/>
              </a:rPr>
              <a:t>i</a:t>
            </a:r>
            <a:r>
              <a:rPr sz="3200" dirty="0">
                <a:solidFill>
                  <a:srgbClr val="151515"/>
                </a:solidFill>
                <a:latin typeface="Arial MT"/>
                <a:cs typeface="Arial MT"/>
              </a:rPr>
              <a:t>gh-perfor</a:t>
            </a:r>
            <a:r>
              <a:rPr sz="3200" spc="95" dirty="0">
                <a:solidFill>
                  <a:srgbClr val="151515"/>
                </a:solidFill>
                <a:latin typeface="Arial MT"/>
                <a:cs typeface="Arial MT"/>
              </a:rPr>
              <a:t>ma</a:t>
            </a:r>
            <a:r>
              <a:rPr sz="4800" spc="-44" baseline="4340" dirty="0">
                <a:solidFill>
                  <a:srgbClr val="111111"/>
                </a:solidFill>
                <a:latin typeface="Arial MT"/>
                <a:cs typeface="Arial MT"/>
              </a:rPr>
              <a:t>nce comput</a:t>
            </a:r>
            <a:r>
              <a:rPr sz="4800" spc="104" baseline="4340" dirty="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4800" baseline="4340" dirty="0">
                <a:solidFill>
                  <a:srgbClr val="111111"/>
                </a:solidFill>
                <a:latin typeface="Arial MT"/>
                <a:cs typeface="Arial MT"/>
              </a:rPr>
              <a:t>g r</a:t>
            </a:r>
            <a:r>
              <a:rPr sz="4800" spc="-157" baseline="4340" dirty="0">
                <a:solidFill>
                  <a:srgbClr val="111111"/>
                </a:solidFill>
                <a:latin typeface="Arial MT"/>
                <a:cs typeface="Arial MT"/>
              </a:rPr>
              <a:t>es</a:t>
            </a:r>
            <a:r>
              <a:rPr sz="4800" spc="-37" baseline="4340" dirty="0">
                <a:solidFill>
                  <a:srgbClr val="131313"/>
                </a:solidFill>
                <a:latin typeface="Arial MT"/>
                <a:cs typeface="Arial MT"/>
              </a:rPr>
              <a:t>ources deliv</a:t>
            </a:r>
            <a:r>
              <a:rPr sz="3200" dirty="0">
                <a:solidFill>
                  <a:srgbClr val="161616"/>
                </a:solidFill>
                <a:latin typeface="Arial MT"/>
                <a:cs typeface="Arial MT"/>
              </a:rPr>
              <a:t>ered se</a:t>
            </a:r>
            <a:r>
              <a:rPr sz="3200" spc="-70" dirty="0">
                <a:solidFill>
                  <a:srgbClr val="161616"/>
                </a:solidFill>
                <a:latin typeface="Arial MT"/>
                <a:cs typeface="Arial MT"/>
              </a:rPr>
              <a:t>cu</a:t>
            </a:r>
            <a:r>
              <a:rPr sz="3200" dirty="0">
                <a:solidFill>
                  <a:srgbClr val="151515"/>
                </a:solidFill>
                <a:latin typeface="Arial MT"/>
                <a:cs typeface="Arial MT"/>
              </a:rPr>
              <a:t>rely </a:t>
            </a:r>
            <a:r>
              <a:rPr sz="3200" spc="-145" dirty="0">
                <a:solidFill>
                  <a:srgbClr val="151515"/>
                </a:solidFill>
                <a:latin typeface="Arial MT"/>
                <a:cs typeface="Arial MT"/>
              </a:rPr>
              <a:t>vi</a:t>
            </a:r>
            <a:r>
              <a:rPr sz="3200" spc="-10" dirty="0">
                <a:solidFill>
                  <a:srgbClr val="111111"/>
                </a:solidFill>
                <a:latin typeface="Arial MT"/>
                <a:cs typeface="Arial MT"/>
              </a:rPr>
              <a:t>a the internet.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382" y="7141843"/>
            <a:ext cx="6962140" cy="1601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11400"/>
              </a:lnSpc>
              <a:spcBef>
                <a:spcPts val="100"/>
              </a:spcBef>
            </a:pPr>
            <a:r>
              <a:rPr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Strat</a:t>
            </a:r>
            <a:r>
              <a:rPr sz="3100" b="1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eg</a:t>
            </a:r>
            <a:r>
              <a:rPr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ic Ad</a:t>
            </a:r>
            <a:r>
              <a:rPr sz="3100" b="1" spc="-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va</a:t>
            </a:r>
            <a:r>
              <a:rPr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ntage</a:t>
            </a:r>
            <a:r>
              <a:rPr sz="3100" b="1" spc="31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:</a:t>
            </a:r>
            <a:r>
              <a:rPr sz="3100" dirty="0">
                <a:solidFill>
                  <a:srgbClr val="1A1A1A"/>
                </a:solidFill>
                <a:latin typeface="Arial MT"/>
                <a:cs typeface="Arial MT"/>
              </a:rPr>
              <a:t> Accel</a:t>
            </a:r>
            <a:r>
              <a:rPr sz="3100" spc="235" dirty="0">
                <a:solidFill>
                  <a:srgbClr val="1A1A1A"/>
                </a:solidFill>
                <a:latin typeface="Arial MT"/>
                <a:cs typeface="Arial MT"/>
              </a:rPr>
              <a:t>e</a:t>
            </a: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rate depl</a:t>
            </a:r>
            <a:r>
              <a:rPr sz="3100" spc="165" dirty="0">
                <a:solidFill>
                  <a:srgbClr val="111111"/>
                </a:solidFill>
                <a:latin typeface="Arial MT"/>
                <a:cs typeface="Arial MT"/>
              </a:rPr>
              <a:t>o</a:t>
            </a:r>
            <a:r>
              <a:rPr sz="3100" dirty="0">
                <a:solidFill>
                  <a:srgbClr val="131313"/>
                </a:solidFill>
                <a:latin typeface="Arial MT"/>
                <a:cs typeface="Arial MT"/>
              </a:rPr>
              <a:t>yment of intel</a:t>
            </a:r>
            <a:r>
              <a:rPr sz="3100" spc="204" dirty="0">
                <a:solidFill>
                  <a:srgbClr val="131313"/>
                </a:solidFill>
                <a:latin typeface="Arial MT"/>
                <a:cs typeface="Arial MT"/>
              </a:rPr>
              <a:t>li</a:t>
            </a:r>
            <a:r>
              <a:rPr sz="3100" spc="60" dirty="0">
                <a:solidFill>
                  <a:srgbClr val="1A1A1A"/>
                </a:solidFill>
                <a:latin typeface="Arial MT"/>
                <a:cs typeface="Arial MT"/>
              </a:rPr>
              <a:t>gent </a:t>
            </a:r>
            <a:r>
              <a:rPr sz="3100" spc="-20" dirty="0">
                <a:solidFill>
                  <a:srgbClr val="111111"/>
                </a:solidFill>
                <a:latin typeface="Arial MT"/>
                <a:cs typeface="Arial MT"/>
              </a:rPr>
              <a:t>features</a:t>
            </a: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 while reduc</a:t>
            </a:r>
            <a:r>
              <a:rPr sz="3100" spc="380" dirty="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3100" dirty="0">
                <a:solidFill>
                  <a:srgbClr val="131313"/>
                </a:solidFill>
                <a:latin typeface="Arial MT"/>
                <a:cs typeface="Arial MT"/>
              </a:rPr>
              <a:t>g capital ex</a:t>
            </a:r>
            <a:r>
              <a:rPr sz="3100" spc="365" dirty="0">
                <a:solidFill>
                  <a:srgbClr val="131313"/>
                </a:solidFill>
                <a:latin typeface="Arial MT"/>
                <a:cs typeface="Arial MT"/>
              </a:rPr>
              <a:t>pe</a:t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nditure on spec</a:t>
            </a:r>
            <a:r>
              <a:rPr sz="3100" spc="365" dirty="0">
                <a:solidFill>
                  <a:srgbClr val="0F0F0F"/>
                </a:solidFill>
                <a:latin typeface="Arial MT"/>
                <a:cs typeface="Arial MT"/>
              </a:rPr>
              <a:t>ia</a:t>
            </a:r>
            <a:r>
              <a:rPr sz="3100" spc="-10" dirty="0">
                <a:solidFill>
                  <a:srgbClr val="111111"/>
                </a:solidFill>
                <a:latin typeface="Arial MT"/>
                <a:cs typeface="Arial MT"/>
              </a:rPr>
              <a:t>lized hardware.</a:t>
            </a:r>
            <a:endParaRPr sz="3100" dirty="0">
              <a:latin typeface="Arial MT"/>
              <a:cs typeface="Arial MT"/>
            </a:endParaRPr>
          </a:p>
        </p:txBody>
      </p:sp>
      <p:pic>
        <p:nvPicPr>
          <p:cNvPr id="3074" name="Picture 2" descr="Aws Images - Free Download on Magnific (formerly Freepik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0" y="2191770"/>
            <a:ext cx="8458200" cy="718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087" y="3550681"/>
            <a:ext cx="6823671" cy="53863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r>
              <a:t>Industry Impact: Accelerates training for large-scale models by up to 3x compared to standard GPUs, powering breakthroughs in genomics research and real-time financial fraud detection.</a:t>
            </a:r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6437" y="1501643"/>
            <a:ext cx="18362976" cy="919115"/>
          </a:xfrm>
          <a:prstGeom prst="rect">
            <a:avLst/>
          </a:prstGeom>
        </p:spPr>
        <p:txBody>
          <a:bodyPr vert="horz" wrap="square" lIns="0" tIns="87266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sz="5400" b="1" dirty="0" smtClean="0">
                <a:solidFill>
                  <a:srgbClr val="4682F7"/>
                </a:solidFill>
              </a:rPr>
              <a:t>Cloud T</a:t>
            </a:r>
            <a:r>
              <a:rPr sz="5400" b="1" spc="-445" dirty="0" smtClean="0">
                <a:solidFill>
                  <a:srgbClr val="4682F7"/>
                </a:solidFill>
              </a:rPr>
              <a:t>P</a:t>
            </a:r>
            <a:r>
              <a:rPr sz="5400" b="1" spc="-10" dirty="0">
                <a:solidFill>
                  <a:srgbClr val="4285F0"/>
                </a:solidFill>
              </a:rPr>
              <a:t>U: Hig</a:t>
            </a:r>
            <a:r>
              <a:rPr sz="5400" b="1" spc="-545" dirty="0">
                <a:solidFill>
                  <a:srgbClr val="4285F0"/>
                </a:solidFill>
              </a:rPr>
              <a:t>h</a:t>
            </a:r>
            <a:r>
              <a:rPr lang="en-US" sz="5400" b="1" dirty="0"/>
              <a:t>-Performance AI Infrastructure</a:t>
            </a:r>
            <a:endParaRPr sz="5400" b="1" dirty="0"/>
          </a:p>
        </p:txBody>
      </p:sp>
      <p:sp>
        <p:nvSpPr>
          <p:cNvPr id="6" name="object 6"/>
          <p:cNvSpPr txBox="1"/>
          <p:nvPr/>
        </p:nvSpPr>
        <p:spPr>
          <a:xfrm>
            <a:off x="8147050" y="4206875"/>
            <a:ext cx="11277600" cy="407392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37870" marR="1387475" indent="-725805">
              <a:lnSpc>
                <a:spcPct val="101499"/>
              </a:lnSpc>
              <a:spcBef>
                <a:spcPts val="40"/>
              </a:spcBef>
              <a:buFont typeface="Wingdings" panose="05000000000000000000" pitchFamily="2" charset="2"/>
              <a:buChar char="Ø"/>
              <a:tabLst>
                <a:tab pos="736600" algn="l"/>
              </a:tabLst>
            </a:pPr>
            <a:r>
              <a:rPr sz="3350" spc="-105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Custom Si</a:t>
            </a:r>
            <a:r>
              <a:rPr sz="3350" spc="-14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l</a:t>
            </a:r>
            <a:r>
              <a:rPr sz="3350" spc="-8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icon: Goo</a:t>
            </a:r>
            <a:r>
              <a:rPr sz="3350" spc="-145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g</a:t>
            </a:r>
            <a:r>
              <a:rPr sz="3350" spc="-65" dirty="0">
                <a:solidFill>
                  <a:srgbClr val="131313"/>
                </a:solidFill>
                <a:latin typeface="Arial MT"/>
                <a:cs typeface="Arial MT"/>
              </a:rPr>
              <a:t>le-engin</a:t>
            </a:r>
            <a:r>
              <a:rPr sz="3350" dirty="0">
                <a:solidFill>
                  <a:srgbClr val="131313"/>
                </a:solidFill>
                <a:latin typeface="Arial MT"/>
                <a:cs typeface="Arial MT"/>
              </a:rPr>
              <a:t>eered </a:t>
            </a:r>
            <a:r>
              <a:rPr sz="3350" spc="130" dirty="0">
                <a:solidFill>
                  <a:srgbClr val="131313"/>
                </a:solidFill>
                <a:latin typeface="Arial MT"/>
                <a:cs typeface="Arial MT"/>
              </a:rPr>
              <a:t>ha</a:t>
            </a:r>
            <a:r>
              <a:rPr sz="3350" spc="-95" dirty="0">
                <a:solidFill>
                  <a:srgbClr val="151515"/>
                </a:solidFill>
                <a:latin typeface="Arial MT"/>
                <a:cs typeface="Arial MT"/>
              </a:rPr>
              <a:t>rdware optim</a:t>
            </a:r>
            <a:r>
              <a:rPr sz="3350" spc="-95" dirty="0">
                <a:solidFill>
                  <a:srgbClr val="0F0F0F"/>
                </a:solidFill>
                <a:latin typeface="Arial MT"/>
                <a:cs typeface="Arial MT"/>
              </a:rPr>
              <a:t>ized for mac</a:t>
            </a:r>
            <a:r>
              <a:rPr sz="3350" spc="-35" dirty="0">
                <a:solidFill>
                  <a:srgbClr val="0F0F0F"/>
                </a:solidFill>
                <a:latin typeface="Arial MT"/>
                <a:cs typeface="Arial MT"/>
              </a:rPr>
              <a:t>h</a:t>
            </a:r>
            <a:r>
              <a:rPr sz="3350" dirty="0">
                <a:solidFill>
                  <a:srgbClr val="131313"/>
                </a:solidFill>
                <a:latin typeface="Arial MT"/>
                <a:cs typeface="Arial MT"/>
              </a:rPr>
              <a:t>ine lea</a:t>
            </a:r>
            <a:r>
              <a:rPr sz="3350" spc="-150" dirty="0">
                <a:solidFill>
                  <a:srgbClr val="131313"/>
                </a:solidFill>
                <a:latin typeface="Arial MT"/>
                <a:cs typeface="Arial MT"/>
              </a:rPr>
              <a:t>rn</a:t>
            </a:r>
            <a:r>
              <a:rPr sz="3350" dirty="0">
                <a:solidFill>
                  <a:srgbClr val="161616"/>
                </a:solidFill>
                <a:latin typeface="Arial MT"/>
                <a:cs typeface="Arial MT"/>
              </a:rPr>
              <a:t>ing</a:t>
            </a:r>
            <a:r>
              <a:rPr sz="3350" spc="-20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350" spc="-20" dirty="0">
                <a:solidFill>
                  <a:srgbClr val="161616"/>
                </a:solidFill>
                <a:latin typeface="Arial MT"/>
                <a:cs typeface="Arial MT"/>
              </a:rPr>
              <a:t>workloads.</a:t>
            </a:r>
            <a:endParaRPr sz="3350" dirty="0">
              <a:latin typeface="Arial MT"/>
              <a:cs typeface="Arial MT"/>
            </a:endParaRPr>
          </a:p>
          <a:p>
            <a:pPr marL="735330" marR="495300" indent="-721995">
              <a:lnSpc>
                <a:spcPct val="107900"/>
              </a:lnSpc>
              <a:spcBef>
                <a:spcPts val="3120"/>
              </a:spcBef>
              <a:buFont typeface="Wingdings" panose="05000000000000000000" pitchFamily="2" charset="2"/>
              <a:buChar char="Ø"/>
              <a:tabLst>
                <a:tab pos="731520" algn="l"/>
              </a:tabLst>
            </a:pPr>
            <a:r>
              <a:rPr sz="3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Accelera</a:t>
            </a:r>
            <a:r>
              <a:rPr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t</a:t>
            </a:r>
            <a:r>
              <a:rPr sz="3200" spc="-13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ed</a:t>
            </a:r>
            <a:r>
              <a:rPr sz="3200" spc="-25" dirty="0">
                <a:solidFill>
                  <a:srgbClr val="0C0C0C"/>
                </a:solidFill>
                <a:latin typeface="Arial MT"/>
                <a:cs typeface="Arial MT"/>
              </a:rPr>
              <a:t> Training: P</a:t>
            </a:r>
            <a:r>
              <a:rPr sz="3200" spc="210" dirty="0">
                <a:solidFill>
                  <a:srgbClr val="0C0C0C"/>
                </a:solidFill>
                <a:latin typeface="Arial MT"/>
                <a:cs typeface="Arial MT"/>
              </a:rPr>
              <a:t>ur</a:t>
            </a:r>
            <a:r>
              <a:rPr sz="3200" dirty="0">
                <a:solidFill>
                  <a:srgbClr val="161616"/>
                </a:solidFill>
                <a:latin typeface="Arial MT"/>
                <a:cs typeface="Arial MT"/>
              </a:rPr>
              <a:t>pose-built archite</a:t>
            </a:r>
            <a:r>
              <a:rPr sz="3200" spc="80" dirty="0">
                <a:solidFill>
                  <a:srgbClr val="161616"/>
                </a:solidFill>
                <a:latin typeface="Arial MT"/>
                <a:cs typeface="Arial MT"/>
              </a:rPr>
              <a:t>ct</a:t>
            </a:r>
            <a:r>
              <a:rPr sz="3200" spc="50" dirty="0">
                <a:solidFill>
                  <a:srgbClr val="181818"/>
                </a:solidFill>
                <a:latin typeface="Arial MT"/>
                <a:cs typeface="Arial MT"/>
              </a:rPr>
              <a:t>ure</a:t>
            </a:r>
            <a:r>
              <a:rPr sz="3200" spc="-165" dirty="0">
                <a:solidFill>
                  <a:srgbClr val="181818"/>
                </a:solidFill>
                <a:latin typeface="Arial MT"/>
                <a:cs typeface="Arial MT"/>
              </a:rPr>
              <a:t> f</a:t>
            </a:r>
            <a:r>
              <a:rPr sz="3200" dirty="0">
                <a:solidFill>
                  <a:srgbClr val="0E0E0E"/>
                </a:solidFill>
                <a:latin typeface="Arial MT"/>
                <a:cs typeface="Arial MT"/>
              </a:rPr>
              <a:t>or r</a:t>
            </a:r>
            <a:r>
              <a:rPr sz="3200" spc="-90" dirty="0">
                <a:solidFill>
                  <a:srgbClr val="0E0E0E"/>
                </a:solidFill>
                <a:latin typeface="Arial MT"/>
                <a:cs typeface="Arial MT"/>
              </a:rPr>
              <a:t>ap</a:t>
            </a:r>
            <a:r>
              <a:rPr sz="3200" spc="-25" dirty="0">
                <a:solidFill>
                  <a:srgbClr val="131313"/>
                </a:solidFill>
                <a:latin typeface="Arial MT"/>
                <a:cs typeface="Arial MT"/>
              </a:rPr>
              <a:t>id exe</a:t>
            </a:r>
            <a:r>
              <a:rPr sz="3200" dirty="0">
                <a:solidFill>
                  <a:srgbClr val="1D1D1D"/>
                </a:solidFill>
                <a:latin typeface="Arial MT"/>
                <a:cs typeface="Arial MT"/>
              </a:rPr>
              <a:t>cution o</a:t>
            </a:r>
            <a:r>
              <a:rPr sz="3200" spc="-225" dirty="0">
                <a:solidFill>
                  <a:srgbClr val="1D1D1D"/>
                </a:solidFill>
                <a:latin typeface="Arial MT"/>
                <a:cs typeface="Arial MT"/>
              </a:rPr>
              <a:t>f</a:t>
            </a:r>
            <a:r>
              <a:rPr sz="3200" spc="-10" dirty="0">
                <a:solidFill>
                  <a:srgbClr val="0E0E0E"/>
                </a:solidFill>
                <a:latin typeface="Arial MT"/>
                <a:cs typeface="Arial MT"/>
              </a:rPr>
              <a:t> massive</a:t>
            </a:r>
            <a:r>
              <a:rPr sz="3200" spc="-55" dirty="0">
                <a:solidFill>
                  <a:srgbClr val="0E0E0E"/>
                </a:solidFill>
                <a:latin typeface="Arial MT"/>
                <a:cs typeface="Arial MT"/>
              </a:rPr>
              <a:t> n</a:t>
            </a:r>
            <a:r>
              <a:rPr sz="3200" spc="-100" dirty="0">
                <a:solidFill>
                  <a:srgbClr val="161616"/>
                </a:solidFill>
                <a:latin typeface="Arial MT"/>
                <a:cs typeface="Arial MT"/>
              </a:rPr>
              <a:t>eur</a:t>
            </a:r>
            <a:r>
              <a:rPr sz="3200" spc="-120" dirty="0">
                <a:solidFill>
                  <a:srgbClr val="161616"/>
                </a:solidFill>
                <a:latin typeface="Arial MT"/>
                <a:cs typeface="Arial MT"/>
              </a:rPr>
              <a:t>a</a:t>
            </a:r>
            <a:r>
              <a:rPr sz="3200" spc="-10" dirty="0">
                <a:solidFill>
                  <a:srgbClr val="131313"/>
                </a:solidFill>
                <a:latin typeface="Arial MT"/>
                <a:cs typeface="Arial MT"/>
              </a:rPr>
              <a:t>l networks.</a:t>
            </a:r>
            <a:endParaRPr sz="3200" dirty="0">
              <a:latin typeface="Arial MT"/>
              <a:cs typeface="Arial MT"/>
            </a:endParaRPr>
          </a:p>
          <a:p>
            <a:pPr marL="738505" marR="5080" indent="-726440">
              <a:lnSpc>
                <a:spcPct val="104600"/>
              </a:lnSpc>
              <a:spcBef>
                <a:spcPts val="3060"/>
              </a:spcBef>
              <a:buFont typeface="Wingdings" panose="05000000000000000000" pitchFamily="2" charset="2"/>
              <a:buChar char="Ø"/>
              <a:tabLst>
                <a:tab pos="732155" algn="l"/>
              </a:tabLst>
            </a:pPr>
            <a:r>
              <a:rPr sz="3350" spc="-25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Operational Eff</a:t>
            </a:r>
            <a:r>
              <a:rPr sz="335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ic</a:t>
            </a:r>
            <a:r>
              <a:rPr sz="3350" spc="-15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i</a:t>
            </a:r>
            <a:r>
              <a:rPr sz="3350" spc="-265" dirty="0">
                <a:solidFill>
                  <a:srgbClr val="151515"/>
                </a:solidFill>
                <a:latin typeface="Arial MT"/>
                <a:cs typeface="Arial MT"/>
              </a:rPr>
              <a:t>ency: Re</a:t>
            </a:r>
            <a:r>
              <a:rPr sz="3350" spc="35" dirty="0">
                <a:solidFill>
                  <a:srgbClr val="151515"/>
                </a:solidFill>
                <a:latin typeface="Arial MT"/>
                <a:cs typeface="Arial MT"/>
              </a:rPr>
              <a:t>du</a:t>
            </a:r>
            <a:r>
              <a:rPr sz="3350" spc="-125" dirty="0">
                <a:solidFill>
                  <a:srgbClr val="0F0F0F"/>
                </a:solidFill>
                <a:latin typeface="Arial MT"/>
                <a:cs typeface="Arial MT"/>
              </a:rPr>
              <a:t>ces model </a:t>
            </a:r>
            <a:r>
              <a:rPr sz="3350" spc="-35" dirty="0">
                <a:solidFill>
                  <a:srgbClr val="0F0F0F"/>
                </a:solidFill>
                <a:latin typeface="Arial MT"/>
                <a:cs typeface="Arial MT"/>
              </a:rPr>
              <a:t>tr</a:t>
            </a:r>
            <a:r>
              <a:rPr sz="3350" spc="-114" dirty="0">
                <a:solidFill>
                  <a:srgbClr val="161616"/>
                </a:solidFill>
                <a:latin typeface="Arial MT"/>
                <a:cs typeface="Arial MT"/>
              </a:rPr>
              <a:t>aining time</a:t>
            </a:r>
            <a:r>
              <a:rPr sz="3350" spc="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350" dirty="0">
                <a:solidFill>
                  <a:srgbClr val="0F0F0F"/>
                </a:solidFill>
                <a:latin typeface="Arial MT"/>
                <a:cs typeface="Arial MT"/>
              </a:rPr>
              <a:t>fro</a:t>
            </a:r>
            <a:r>
              <a:rPr sz="3350" spc="-85" dirty="0">
                <a:solidFill>
                  <a:srgbClr val="0F0F0F"/>
                </a:solidFill>
                <a:latin typeface="Arial MT"/>
                <a:cs typeface="Arial MT"/>
              </a:rPr>
              <a:t>m </a:t>
            </a:r>
            <a:r>
              <a:rPr sz="3350" spc="-20" dirty="0">
                <a:solidFill>
                  <a:srgbClr val="161616"/>
                </a:solidFill>
                <a:latin typeface="Arial MT"/>
                <a:cs typeface="Arial MT"/>
              </a:rPr>
              <a:t>weeks to</a:t>
            </a:r>
            <a:r>
              <a:rPr sz="3350" dirty="0">
                <a:solidFill>
                  <a:srgbClr val="1D1D1D"/>
                </a:solidFill>
                <a:latin typeface="Arial MT"/>
                <a:cs typeface="Arial MT"/>
              </a:rPr>
              <a:t> hou</a:t>
            </a:r>
            <a:r>
              <a:rPr sz="3350" spc="-210" dirty="0">
                <a:solidFill>
                  <a:srgbClr val="1D1D1D"/>
                </a:solidFill>
                <a:latin typeface="Arial MT"/>
                <a:cs typeface="Arial MT"/>
              </a:rPr>
              <a:t>rs</a:t>
            </a:r>
            <a:r>
              <a:rPr sz="3350" spc="-95" dirty="0">
                <a:solidFill>
                  <a:srgbClr val="111111"/>
                </a:solidFill>
                <a:latin typeface="Arial MT"/>
                <a:cs typeface="Arial MT"/>
              </a:rPr>
              <a:t> for comple</a:t>
            </a:r>
            <a:r>
              <a:rPr sz="3350" spc="-20" dirty="0">
                <a:solidFill>
                  <a:srgbClr val="111111"/>
                </a:solidFill>
                <a:latin typeface="Arial MT"/>
                <a:cs typeface="Arial MT"/>
              </a:rPr>
              <a:t>x</a:t>
            </a:r>
            <a:r>
              <a:rPr sz="3350" spc="-125" dirty="0">
                <a:solidFill>
                  <a:srgbClr val="181818"/>
                </a:solidFill>
                <a:latin typeface="Arial MT"/>
                <a:cs typeface="Arial MT"/>
              </a:rPr>
              <a:t> data </a:t>
            </a:r>
            <a:r>
              <a:rPr sz="3350" spc="-110" dirty="0">
                <a:solidFill>
                  <a:srgbClr val="181818"/>
                </a:solidFill>
                <a:latin typeface="Arial MT"/>
                <a:cs typeface="Arial MT"/>
              </a:rPr>
              <a:t>pr</a:t>
            </a:r>
            <a:r>
              <a:rPr sz="3350" spc="-10" dirty="0">
                <a:solidFill>
                  <a:srgbClr val="161616"/>
                </a:solidFill>
                <a:latin typeface="Arial MT"/>
                <a:cs typeface="Arial MT"/>
              </a:rPr>
              <a:t>ocessing.</a:t>
            </a:r>
            <a:endParaRPr sz="33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r>
              <a:t>Empower your organization with scalable, custom-built AI solutions tailored to specific business requirements.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6437" y="1257360"/>
            <a:ext cx="18362976" cy="911185"/>
          </a:xfrm>
          <a:prstGeom prst="rect">
            <a:avLst/>
          </a:prstGeom>
        </p:spPr>
        <p:txBody>
          <a:bodyPr vert="horz" wrap="square" lIns="0" tIns="794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70" dirty="0" smtClean="0">
                <a:solidFill>
                  <a:srgbClr val="4289E4"/>
                </a:solidFill>
              </a:rPr>
              <a:t>Cu</a:t>
            </a:r>
            <a:r>
              <a:rPr lang="en-US" sz="5400" b="1" dirty="0" smtClean="0">
                <a:solidFill>
                  <a:srgbClr val="3F85FD"/>
                </a:solidFill>
              </a:rPr>
              <a:t>stom AI Deve</a:t>
            </a:r>
            <a:r>
              <a:rPr lang="en-US" sz="5400" b="1" spc="-25" dirty="0" smtClean="0">
                <a:solidFill>
                  <a:srgbClr val="3F85FD"/>
                </a:solidFill>
              </a:rPr>
              <a:t>l</a:t>
            </a:r>
            <a:r>
              <a:rPr lang="en-US" sz="5400" b="1" spc="-85" dirty="0" smtClean="0">
                <a:solidFill>
                  <a:srgbClr val="4482F9"/>
                </a:solidFill>
              </a:rPr>
              <a:t>opment</a:t>
            </a:r>
            <a:r>
              <a:rPr lang="en-US" sz="5400" b="1" spc="-100" dirty="0" smtClean="0">
                <a:solidFill>
                  <a:srgbClr val="4482F9"/>
                </a:solidFill>
              </a:rPr>
              <a:t> F</a:t>
            </a:r>
            <a:r>
              <a:rPr lang="en-US" sz="5400" b="1" spc="215" dirty="0" smtClean="0">
                <a:solidFill>
                  <a:srgbClr val="3B8AED"/>
                </a:solidFill>
              </a:rPr>
              <a:t>rame</a:t>
            </a:r>
            <a:r>
              <a:rPr lang="en-US" sz="5400" b="1" spc="-415" dirty="0" smtClean="0">
                <a:solidFill>
                  <a:srgbClr val="3B8AED"/>
                </a:solidFill>
              </a:rPr>
              <a:t>wo</a:t>
            </a:r>
            <a:r>
              <a:rPr lang="en-US" sz="5400" b="1" spc="170" dirty="0" smtClean="0">
                <a:solidFill>
                  <a:srgbClr val="4285F7"/>
                </a:solidFill>
              </a:rPr>
              <a:t>rks</a:t>
            </a:r>
            <a:endParaRPr lang="en-US" sz="5400" b="1" dirty="0"/>
          </a:p>
        </p:txBody>
      </p:sp>
      <p:sp>
        <p:nvSpPr>
          <p:cNvPr id="8" name="object 8"/>
          <p:cNvSpPr txBox="1"/>
          <p:nvPr/>
        </p:nvSpPr>
        <p:spPr>
          <a:xfrm>
            <a:off x="1441450" y="4054475"/>
            <a:ext cx="4191000" cy="32409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4685F2"/>
                </a:solidFill>
                <a:latin typeface="Arial MT"/>
                <a:cs typeface="Arial MT"/>
              </a:rPr>
              <a:t>Cloud</a:t>
            </a:r>
            <a:r>
              <a:rPr sz="3600" spc="-35" dirty="0">
                <a:solidFill>
                  <a:srgbClr val="4685F2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3687FD"/>
                </a:solidFill>
                <a:latin typeface="Arial MT"/>
                <a:cs typeface="Arial MT"/>
              </a:rPr>
              <a:t>AutoML</a:t>
            </a:r>
            <a:endParaRPr sz="3600" dirty="0">
              <a:latin typeface="Arial MT"/>
              <a:cs typeface="Arial MT"/>
            </a:endParaRPr>
          </a:p>
          <a:p>
            <a:pPr marL="20955" marR="5080" indent="5080">
              <a:lnSpc>
                <a:spcPct val="113599"/>
              </a:lnSpc>
              <a:spcBef>
                <a:spcPts val="1670"/>
              </a:spcBef>
            </a:pPr>
            <a:r>
              <a:rPr sz="2800" spc="-55" dirty="0">
                <a:solidFill>
                  <a:srgbClr val="596675"/>
                </a:solidFill>
                <a:latin typeface="Arial MT"/>
                <a:cs typeface="Arial MT"/>
              </a:rPr>
              <a:t>Develop</a:t>
            </a:r>
            <a:r>
              <a:rPr sz="2800" spc="-70" dirty="0">
                <a:solidFill>
                  <a:srgbClr val="596675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high-a</a:t>
            </a:r>
            <a:r>
              <a:rPr sz="2800" spc="-65" dirty="0">
                <a:solidFill>
                  <a:srgbClr val="595959"/>
                </a:solidFill>
                <a:latin typeface="Arial MT"/>
                <a:cs typeface="Arial MT"/>
              </a:rPr>
              <a:t>c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curac</a:t>
            </a:r>
            <a:r>
              <a:rPr sz="2800" spc="-65" dirty="0">
                <a:solidFill>
                  <a:srgbClr val="565656"/>
                </a:solidFill>
                <a:latin typeface="Arial MT"/>
                <a:cs typeface="Arial MT"/>
              </a:rPr>
              <a:t>y</a:t>
            </a:r>
            <a:r>
              <a:rPr sz="2800" dirty="0">
                <a:solidFill>
                  <a:srgbClr val="444444"/>
                </a:solidFill>
                <a:latin typeface="Arial MT"/>
                <a:cs typeface="Arial MT"/>
              </a:rPr>
              <a:t> custom </a:t>
            </a:r>
            <a:r>
              <a:rPr sz="2800" spc="-55" dirty="0">
                <a:solidFill>
                  <a:srgbClr val="444444"/>
                </a:solidFill>
                <a:latin typeface="Arial MT"/>
                <a:cs typeface="Arial MT"/>
              </a:rPr>
              <a:t>mo</a:t>
            </a:r>
            <a:r>
              <a:rPr sz="2800" spc="-25" dirty="0">
                <a:solidFill>
                  <a:srgbClr val="595959"/>
                </a:solidFill>
                <a:latin typeface="Arial MT"/>
                <a:cs typeface="Arial MT"/>
              </a:rPr>
              <a:t>dels</a:t>
            </a:r>
            <a:r>
              <a:rPr sz="2800" spc="-35" dirty="0">
                <a:solidFill>
                  <a:srgbClr val="4F4F4F"/>
                </a:solidFill>
                <a:latin typeface="Arial MT"/>
                <a:cs typeface="Arial MT"/>
              </a:rPr>
              <a:t> without</a:t>
            </a:r>
            <a:r>
              <a:rPr sz="2800" spc="10" dirty="0">
                <a:solidFill>
                  <a:srgbClr val="4F4F4F"/>
                </a:solidFill>
                <a:latin typeface="Arial MT"/>
                <a:cs typeface="Arial MT"/>
              </a:rPr>
              <a:t> d</a:t>
            </a:r>
            <a:r>
              <a:rPr sz="2800" spc="-55" dirty="0">
                <a:solidFill>
                  <a:srgbClr val="4F4F4F"/>
                </a:solidFill>
                <a:latin typeface="Arial MT"/>
                <a:cs typeface="Arial MT"/>
              </a:rPr>
              <a:t>eep coding</a:t>
            </a:r>
            <a:r>
              <a:rPr sz="2800" spc="1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800" spc="-150" dirty="0">
                <a:solidFill>
                  <a:srgbClr val="575757"/>
                </a:solidFill>
                <a:latin typeface="Arial MT"/>
                <a:cs typeface="Arial MT"/>
              </a:rPr>
              <a:t>expe</a:t>
            </a:r>
            <a:r>
              <a:rPr sz="2800" spc="-20" dirty="0">
                <a:solidFill>
                  <a:srgbClr val="575757"/>
                </a:solidFill>
                <a:latin typeface="Arial MT"/>
                <a:cs typeface="Arial MT"/>
              </a:rPr>
              <a:t>rt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ise. In</a:t>
            </a:r>
            <a:r>
              <a:rPr sz="2800" spc="-75" dirty="0">
                <a:solidFill>
                  <a:srgbClr val="565656"/>
                </a:solidFill>
                <a:latin typeface="Arial MT"/>
                <a:cs typeface="Arial MT"/>
              </a:rPr>
              <a:t>d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ustry </a:t>
            </a:r>
            <a:r>
              <a:rPr sz="2800" spc="-70" dirty="0">
                <a:solidFill>
                  <a:srgbClr val="595959"/>
                </a:solidFill>
                <a:latin typeface="Arial MT"/>
                <a:cs typeface="Arial MT"/>
              </a:rPr>
              <a:t>u</a:t>
            </a:r>
            <a:r>
              <a:rPr sz="2800" spc="-25" dirty="0">
                <a:solidFill>
                  <a:srgbClr val="525252"/>
                </a:solidFill>
                <a:latin typeface="Arial MT"/>
                <a:cs typeface="Arial MT"/>
              </a:rPr>
              <a:t>se c</a:t>
            </a:r>
            <a:r>
              <a:rPr sz="2800" dirty="0">
                <a:solidFill>
                  <a:srgbClr val="5D5D5D"/>
                </a:solidFill>
                <a:latin typeface="Arial MT"/>
                <a:cs typeface="Arial MT"/>
              </a:rPr>
              <a:t>ase</a:t>
            </a:r>
            <a:r>
              <a:rPr sz="2800" spc="-165" dirty="0">
                <a:solidFill>
                  <a:srgbClr val="5D5D5D"/>
                </a:solidFill>
                <a:latin typeface="Arial MT"/>
                <a:cs typeface="Arial MT"/>
              </a:rPr>
              <a:t>: </a:t>
            </a:r>
            <a:r>
              <a:rPr sz="2800" spc="-330" dirty="0">
                <a:solidFill>
                  <a:srgbClr val="626262"/>
                </a:solidFill>
                <a:latin typeface="Arial MT"/>
                <a:cs typeface="Arial MT"/>
              </a:rPr>
              <a:t>R</a:t>
            </a:r>
            <a:r>
              <a:rPr sz="2800" spc="114" dirty="0">
                <a:solidFill>
                  <a:srgbClr val="626262"/>
                </a:solidFill>
                <a:latin typeface="Arial MT"/>
                <a:cs typeface="Arial MT"/>
              </a:rPr>
              <a:t>e</a:t>
            </a:r>
            <a:r>
              <a:rPr sz="2800" spc="-10" dirty="0">
                <a:solidFill>
                  <a:srgbClr val="595959"/>
                </a:solidFill>
                <a:latin typeface="Arial MT"/>
                <a:cs typeface="Arial MT"/>
              </a:rPr>
              <a:t>tailers a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u</a:t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>tomate in</a:t>
            </a:r>
            <a:r>
              <a:rPr sz="2800" spc="-15" dirty="0">
                <a:solidFill>
                  <a:srgbClr val="525252"/>
                </a:solidFill>
                <a:latin typeface="Arial MT"/>
                <a:cs typeface="Arial MT"/>
              </a:rPr>
              <a:t>v</a:t>
            </a:r>
            <a:r>
              <a:rPr sz="2800" dirty="0">
                <a:solidFill>
                  <a:srgbClr val="5B5B5B"/>
                </a:solidFill>
                <a:latin typeface="Arial MT"/>
                <a:cs typeface="Arial MT"/>
              </a:rPr>
              <a:t>ent</a:t>
            </a:r>
            <a:r>
              <a:rPr sz="2800" spc="-95" dirty="0">
                <a:solidFill>
                  <a:srgbClr val="5B5B5B"/>
                </a:solidFill>
                <a:latin typeface="Arial MT"/>
                <a:cs typeface="Arial MT"/>
              </a:rPr>
              <a:t>o</a:t>
            </a:r>
            <a:r>
              <a:rPr sz="2800" spc="-20" dirty="0">
                <a:solidFill>
                  <a:srgbClr val="5B5B5B"/>
                </a:solidFill>
                <a:latin typeface="Arial MT"/>
                <a:cs typeface="Arial MT"/>
              </a:rPr>
              <a:t>ry clas</a:t>
            </a:r>
            <a:r>
              <a:rPr sz="2800" spc="-40" dirty="0">
                <a:solidFill>
                  <a:srgbClr val="5B5B5B"/>
                </a:solidFill>
                <a:latin typeface="Arial MT"/>
                <a:cs typeface="Arial MT"/>
              </a:rPr>
              <a:t>si</a:t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ficatio</a:t>
            </a:r>
            <a:r>
              <a:rPr sz="2800" spc="-30" dirty="0">
                <a:solidFill>
                  <a:srgbClr val="575757"/>
                </a:solidFill>
                <a:latin typeface="Arial MT"/>
                <a:cs typeface="Arial MT"/>
              </a:rPr>
              <a:t>n with 95</a:t>
            </a:r>
            <a:r>
              <a:rPr sz="2800" spc="-90" dirty="0">
                <a:solidFill>
                  <a:srgbClr val="575757"/>
                </a:solidFill>
                <a:latin typeface="Arial MT"/>
                <a:cs typeface="Arial MT"/>
              </a:rPr>
              <a:t>%+</a:t>
            </a:r>
            <a:r>
              <a:rPr sz="2800" spc="-10" dirty="0">
                <a:solidFill>
                  <a:srgbClr val="4F4F4F"/>
                </a:solidFill>
                <a:latin typeface="Arial MT"/>
                <a:cs typeface="Arial MT"/>
              </a:rPr>
              <a:t> precision.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61250" y="4816475"/>
            <a:ext cx="4501515" cy="32409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10" dirty="0">
                <a:solidFill>
                  <a:srgbClr val="4689FF"/>
                </a:solidFill>
                <a:latin typeface="Arial MT"/>
                <a:cs typeface="Arial MT"/>
              </a:rPr>
              <a:t>Verte</a:t>
            </a:r>
            <a:r>
              <a:rPr sz="3600" spc="-265" dirty="0">
                <a:solidFill>
                  <a:srgbClr val="4689FF"/>
                </a:solidFill>
                <a:latin typeface="Arial MT"/>
                <a:cs typeface="Arial MT"/>
              </a:rPr>
              <a:t>x </a:t>
            </a:r>
            <a:r>
              <a:rPr sz="3600" spc="-10" dirty="0">
                <a:solidFill>
                  <a:srgbClr val="3D85FB"/>
                </a:solidFill>
                <a:latin typeface="Arial MT"/>
                <a:cs typeface="Arial MT"/>
              </a:rPr>
              <a:t>AI (ML Engine)</a:t>
            </a:r>
            <a:endParaRPr sz="3600" dirty="0">
              <a:latin typeface="Arial MT"/>
              <a:cs typeface="Arial MT"/>
            </a:endParaRPr>
          </a:p>
          <a:p>
            <a:pPr marL="15875" marR="5080" indent="5080">
              <a:lnSpc>
                <a:spcPct val="113599"/>
              </a:lnSpc>
              <a:spcBef>
                <a:spcPts val="1670"/>
              </a:spcBef>
            </a:pPr>
            <a:r>
              <a:rPr sz="2800" spc="-265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800" spc="75" dirty="0">
                <a:solidFill>
                  <a:srgbClr val="5E5E5E"/>
                </a:solidFill>
                <a:latin typeface="Arial MT"/>
                <a:cs typeface="Arial MT"/>
              </a:rPr>
              <a:t>cc</a:t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elerate deve</a:t>
            </a:r>
            <a:r>
              <a:rPr sz="2800" spc="-55" dirty="0">
                <a:solidFill>
                  <a:srgbClr val="565656"/>
                </a:solidFill>
                <a:latin typeface="Arial MT"/>
                <a:cs typeface="Arial MT"/>
              </a:rPr>
              <a:t>l</a:t>
            </a:r>
            <a:r>
              <a:rPr sz="2800" dirty="0">
                <a:solidFill>
                  <a:srgbClr val="464646"/>
                </a:solidFill>
                <a:latin typeface="Arial MT"/>
                <a:cs typeface="Arial MT"/>
              </a:rPr>
              <a:t>opme</a:t>
            </a:r>
            <a:r>
              <a:rPr sz="2800" spc="-5" dirty="0">
                <a:solidFill>
                  <a:srgbClr val="464646"/>
                </a:solidFill>
                <a:latin typeface="Arial MT"/>
                <a:cs typeface="Arial MT"/>
              </a:rPr>
              <a:t>nt</a:t>
            </a:r>
            <a:r>
              <a:rPr sz="2800" spc="-20" dirty="0">
                <a:solidFill>
                  <a:srgbClr val="525252"/>
                </a:solidFill>
                <a:latin typeface="Arial MT"/>
                <a:cs typeface="Arial MT"/>
              </a:rPr>
              <a:t> with a managed </a:t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>e</a:t>
            </a:r>
            <a:r>
              <a:rPr sz="2800" spc="-30" dirty="0">
                <a:solidFill>
                  <a:srgbClr val="525252"/>
                </a:solidFill>
                <a:latin typeface="Arial MT"/>
                <a:cs typeface="Arial MT"/>
              </a:rPr>
              <a:t>nvironmen</a:t>
            </a:r>
            <a:r>
              <a:rPr sz="2800" spc="-45" dirty="0">
                <a:solidFill>
                  <a:srgbClr val="525252"/>
                </a:solidFill>
                <a:latin typeface="Arial MT"/>
                <a:cs typeface="Arial MT"/>
              </a:rPr>
              <a:t>t fo</a:t>
            </a:r>
            <a:r>
              <a:rPr sz="2800" spc="-135" dirty="0">
                <a:solidFill>
                  <a:srgbClr val="525252"/>
                </a:solidFill>
                <a:latin typeface="Arial MT"/>
                <a:cs typeface="Arial MT"/>
              </a:rPr>
              <a:t>r </a:t>
            </a:r>
            <a:r>
              <a:rPr sz="2800" dirty="0">
                <a:solidFill>
                  <a:srgbClr val="5B5B5B"/>
                </a:solidFill>
                <a:latin typeface="Arial MT"/>
                <a:cs typeface="Arial MT"/>
              </a:rPr>
              <a:t>larg</a:t>
            </a:r>
            <a:r>
              <a:rPr sz="2800" spc="-145" dirty="0">
                <a:solidFill>
                  <a:srgbClr val="5B5B5B"/>
                </a:solidFill>
                <a:latin typeface="Arial MT"/>
                <a:cs typeface="Arial MT"/>
              </a:rPr>
              <a:t>e-</a:t>
            </a:r>
            <a:r>
              <a:rPr sz="2800" spc="-35" dirty="0">
                <a:solidFill>
                  <a:srgbClr val="565656"/>
                </a:solidFill>
                <a:latin typeface="Arial MT"/>
                <a:cs typeface="Arial MT"/>
              </a:rPr>
              <a:t>scale p</a:t>
            </a:r>
            <a:r>
              <a:rPr sz="2800" spc="30" dirty="0">
                <a:solidFill>
                  <a:srgbClr val="565656"/>
                </a:solidFill>
                <a:latin typeface="Arial MT"/>
                <a:cs typeface="Arial MT"/>
              </a:rPr>
              <a:t>r</a:t>
            </a:r>
            <a:r>
              <a:rPr sz="2800" spc="-160" dirty="0">
                <a:solidFill>
                  <a:srgbClr val="565656"/>
                </a:solidFill>
                <a:latin typeface="Arial MT"/>
                <a:cs typeface="Arial MT"/>
              </a:rPr>
              <a:t>oje</a:t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ct</a:t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>s. Industry</a:t>
            </a:r>
            <a:r>
              <a:rPr sz="2800" spc="5" dirty="0">
                <a:solidFill>
                  <a:srgbClr val="525252"/>
                </a:solidFill>
                <a:latin typeface="Arial MT"/>
                <a:cs typeface="Arial MT"/>
              </a:rPr>
              <a:t> u</a:t>
            </a:r>
            <a:r>
              <a:rPr sz="2800" spc="-10" dirty="0">
                <a:solidFill>
                  <a:srgbClr val="545454"/>
                </a:solidFill>
                <a:latin typeface="Arial MT"/>
                <a:cs typeface="Arial MT"/>
              </a:rPr>
              <a:t>se case: </a:t>
            </a:r>
            <a:r>
              <a:rPr sz="2800" spc="-35" dirty="0">
                <a:solidFill>
                  <a:srgbClr val="565656"/>
                </a:solidFill>
                <a:latin typeface="Arial MT"/>
                <a:cs typeface="Arial MT"/>
              </a:rPr>
              <a:t>Finance fi</a:t>
            </a:r>
            <a:r>
              <a:rPr sz="2800" spc="-40" dirty="0">
                <a:solidFill>
                  <a:srgbClr val="565656"/>
                </a:solidFill>
                <a:latin typeface="Arial MT"/>
                <a:cs typeface="Arial MT"/>
              </a:rPr>
              <a:t>r</a:t>
            </a:r>
            <a:r>
              <a:rPr sz="2800" dirty="0">
                <a:solidFill>
                  <a:srgbClr val="3B3B3B"/>
                </a:solidFill>
                <a:latin typeface="Arial MT"/>
                <a:cs typeface="Arial MT"/>
              </a:rPr>
              <a:t>ms deploy</a:t>
            </a:r>
            <a:r>
              <a:rPr sz="2800" spc="-35" dirty="0">
                <a:solidFill>
                  <a:srgbClr val="5B5B5B"/>
                </a:solidFill>
                <a:latin typeface="Arial MT"/>
                <a:cs typeface="Arial MT"/>
              </a:rPr>
              <a:t> predic</a:t>
            </a:r>
            <a:r>
              <a:rPr sz="2800" spc="-95" dirty="0">
                <a:solidFill>
                  <a:srgbClr val="5B5B5B"/>
                </a:solidFill>
                <a:latin typeface="Arial MT"/>
                <a:cs typeface="Arial MT"/>
              </a:rPr>
              <a:t>ti</a:t>
            </a:r>
            <a:r>
              <a:rPr sz="2800" spc="-10" dirty="0">
                <a:solidFill>
                  <a:srgbClr val="545454"/>
                </a:solidFill>
                <a:latin typeface="Arial MT"/>
                <a:cs typeface="Arial MT"/>
              </a:rPr>
              <a:t>ve fraud d</a:t>
            </a:r>
            <a:r>
              <a:rPr sz="2800" spc="-40" dirty="0">
                <a:solidFill>
                  <a:srgbClr val="5B5B5B"/>
                </a:solidFill>
                <a:latin typeface="Arial MT"/>
                <a:cs typeface="Arial MT"/>
              </a:rPr>
              <a:t>etection m</a:t>
            </a:r>
            <a:r>
              <a:rPr sz="2800" spc="15" dirty="0">
                <a:solidFill>
                  <a:srgbClr val="5B5B5B"/>
                </a:solidFill>
                <a:latin typeface="Arial MT"/>
                <a:cs typeface="Arial MT"/>
              </a:rPr>
              <a:t>o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dels </a:t>
            </a:r>
            <a:r>
              <a:rPr sz="2800" spc="-40" dirty="0">
                <a:solidFill>
                  <a:srgbClr val="565656"/>
                </a:solidFill>
                <a:latin typeface="Arial MT"/>
                <a:cs typeface="Arial MT"/>
              </a:rPr>
              <a:t>3</a:t>
            </a:r>
            <a:r>
              <a:rPr sz="2800" spc="-10" dirty="0">
                <a:solidFill>
                  <a:srgbClr val="4F4F4F"/>
                </a:solidFill>
                <a:latin typeface="Arial MT"/>
                <a:cs typeface="Arial MT"/>
              </a:rPr>
              <a:t>x faster.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8222" y="5883275"/>
            <a:ext cx="3872865" cy="274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75" dirty="0">
                <a:solidFill>
                  <a:srgbClr val="3685E9"/>
                </a:solidFill>
                <a:latin typeface="Arial MT"/>
                <a:cs typeface="Arial MT"/>
              </a:rPr>
              <a:t>Custom</a:t>
            </a:r>
            <a:r>
              <a:rPr sz="3600" spc="-160" dirty="0">
                <a:solidFill>
                  <a:srgbClr val="3685E9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418AF4"/>
                </a:solidFill>
                <a:latin typeface="Arial MT"/>
                <a:cs typeface="Arial MT"/>
              </a:rPr>
              <a:t>Training</a:t>
            </a:r>
            <a:endParaRPr sz="3600" dirty="0">
              <a:latin typeface="Arial MT"/>
              <a:cs typeface="Arial MT"/>
            </a:endParaRPr>
          </a:p>
          <a:p>
            <a:pPr marL="20955" marR="5080" indent="5080">
              <a:lnSpc>
                <a:spcPct val="113599"/>
              </a:lnSpc>
              <a:spcBef>
                <a:spcPts val="1670"/>
              </a:spcBef>
            </a:pPr>
            <a:r>
              <a:rPr sz="2800" spc="-40" dirty="0">
                <a:solidFill>
                  <a:srgbClr val="464646"/>
                </a:solidFill>
                <a:latin typeface="Arial MT"/>
                <a:cs typeface="Arial MT"/>
              </a:rPr>
              <a:t>Streamline com</a:t>
            </a:r>
            <a:r>
              <a:rPr sz="2800" dirty="0">
                <a:solidFill>
                  <a:srgbClr val="464646"/>
                </a:solidFill>
                <a:latin typeface="Arial MT"/>
                <a:cs typeface="Arial MT"/>
              </a:rPr>
              <a:t>pl</a:t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>ex ma</a:t>
            </a:r>
            <a:r>
              <a:rPr sz="2800" spc="-75" dirty="0">
                <a:solidFill>
                  <a:srgbClr val="525252"/>
                </a:solidFill>
                <a:latin typeface="Arial MT"/>
                <a:cs typeface="Arial MT"/>
              </a:rPr>
              <a:t>ch</a:t>
            </a:r>
            <a:r>
              <a:rPr sz="2800" spc="-20" dirty="0">
                <a:solidFill>
                  <a:srgbClr val="4D4D4D"/>
                </a:solidFill>
                <a:latin typeface="Arial MT"/>
                <a:cs typeface="Arial MT"/>
              </a:rPr>
              <a:t>ine lea</a:t>
            </a:r>
            <a:r>
              <a:rPr sz="2800" spc="-114" dirty="0">
                <a:solidFill>
                  <a:srgbClr val="4D4D4D"/>
                </a:solidFill>
                <a:latin typeface="Arial MT"/>
                <a:cs typeface="Arial MT"/>
              </a:rPr>
              <a:t>r</a:t>
            </a:r>
            <a:r>
              <a:rPr sz="2800" dirty="0">
                <a:solidFill>
                  <a:srgbClr val="575757"/>
                </a:solidFill>
                <a:latin typeface="Arial MT"/>
                <a:cs typeface="Arial MT"/>
              </a:rPr>
              <a:t>ning work</a:t>
            </a:r>
            <a:r>
              <a:rPr sz="2800" spc="-25" dirty="0">
                <a:solidFill>
                  <a:srgbClr val="575757"/>
                </a:solidFill>
                <a:latin typeface="Arial MT"/>
                <a:cs typeface="Arial MT"/>
              </a:rPr>
              <a:t>fl</a:t>
            </a:r>
            <a:r>
              <a:rPr sz="2800" spc="-25" dirty="0">
                <a:solidFill>
                  <a:srgbClr val="4B4B4B"/>
                </a:solidFill>
                <a:latin typeface="Arial MT"/>
                <a:cs typeface="Arial MT"/>
              </a:rPr>
              <a:t>ows t</a:t>
            </a:r>
            <a:r>
              <a:rPr sz="2800" spc="-55" dirty="0">
                <a:solidFill>
                  <a:srgbClr val="545454"/>
                </a:solidFill>
                <a:latin typeface="Arial MT"/>
                <a:cs typeface="Arial MT"/>
              </a:rPr>
              <a:t>o focus on c</a:t>
            </a:r>
            <a:r>
              <a:rPr sz="2800" spc="20" dirty="0">
                <a:solidFill>
                  <a:srgbClr val="545454"/>
                </a:solidFill>
                <a:latin typeface="Arial MT"/>
                <a:cs typeface="Arial MT"/>
              </a:rPr>
              <a:t>or</a:t>
            </a:r>
            <a:r>
              <a:rPr sz="2800" spc="-40" dirty="0">
                <a:solidFill>
                  <a:srgbClr val="525252"/>
                </a:solidFill>
                <a:latin typeface="Arial MT"/>
                <a:cs typeface="Arial MT"/>
              </a:rPr>
              <a:t>e business log</a:t>
            </a:r>
            <a:r>
              <a:rPr sz="2800" spc="-25" dirty="0">
                <a:solidFill>
                  <a:srgbClr val="525252"/>
                </a:solidFill>
                <a:latin typeface="Arial MT"/>
                <a:cs typeface="Arial MT"/>
              </a:rPr>
              <a:t>ic</a:t>
            </a:r>
            <a:r>
              <a:rPr sz="2800" dirty="0">
                <a:solidFill>
                  <a:srgbClr val="575757"/>
                </a:solidFill>
                <a:latin typeface="Arial MT"/>
                <a:cs typeface="Arial MT"/>
              </a:rPr>
              <a:t>. I</a:t>
            </a:r>
            <a:r>
              <a:rPr sz="2800" spc="-100" dirty="0">
                <a:solidFill>
                  <a:srgbClr val="575757"/>
                </a:solidFill>
                <a:latin typeface="Arial MT"/>
                <a:cs typeface="Arial MT"/>
              </a:rPr>
              <a:t>nd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ustry</a:t>
            </a:r>
            <a:r>
              <a:rPr sz="2800" spc="-140" dirty="0">
                <a:solidFill>
                  <a:srgbClr val="565656"/>
                </a:solidFill>
                <a:latin typeface="Arial MT"/>
                <a:cs typeface="Arial MT"/>
              </a:rPr>
              <a:t> u</a:t>
            </a:r>
            <a:r>
              <a:rPr sz="2800" spc="-25" dirty="0">
                <a:solidFill>
                  <a:srgbClr val="595959"/>
                </a:solidFill>
                <a:latin typeface="Arial MT"/>
                <a:cs typeface="Arial MT"/>
              </a:rPr>
              <a:t>se case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: Healthc</a:t>
            </a:r>
            <a:r>
              <a:rPr sz="2800" spc="-25" dirty="0">
                <a:solidFill>
                  <a:srgbClr val="565656"/>
                </a:solidFill>
                <a:latin typeface="Arial MT"/>
                <a:cs typeface="Arial MT"/>
              </a:rPr>
              <a:t>a</a:t>
            </a:r>
            <a:r>
              <a:rPr sz="2800" dirty="0">
                <a:solidFill>
                  <a:srgbClr val="5D5D5D"/>
                </a:solidFill>
                <a:latin typeface="Arial MT"/>
                <a:cs typeface="Arial MT"/>
              </a:rPr>
              <a:t>re p</a:t>
            </a:r>
            <a:r>
              <a:rPr sz="2800" spc="-75" dirty="0">
                <a:solidFill>
                  <a:srgbClr val="5D5D5D"/>
                </a:solidFill>
                <a:latin typeface="Arial MT"/>
                <a:cs typeface="Arial MT"/>
              </a:rPr>
              <a:t>ro</a:t>
            </a:r>
            <a:r>
              <a:rPr sz="2800" spc="-25" dirty="0">
                <a:solidFill>
                  <a:srgbClr val="575757"/>
                </a:solidFill>
                <a:latin typeface="Arial MT"/>
                <a:cs typeface="Arial MT"/>
              </a:rPr>
              <a:t>viders optim</a:t>
            </a:r>
            <a:r>
              <a:rPr sz="2800" spc="-65" dirty="0">
                <a:solidFill>
                  <a:srgbClr val="575757"/>
                </a:solidFill>
                <a:latin typeface="Arial MT"/>
                <a:cs typeface="Arial MT"/>
              </a:rPr>
              <a:t>iz</a:t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e diagnostic imaging pipelines.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5250" y="3982142"/>
            <a:ext cx="6671269" cy="462983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82905"/>
            <a:ext cx="20104100" cy="125730"/>
          </a:xfrm>
          <a:custGeom>
            <a:avLst/>
            <a:gdLst/>
            <a:ahLst/>
            <a:cxnLst/>
            <a:rect l="l" t="t" r="r" b="b"/>
            <a:pathLst>
              <a:path w="20104100" h="125729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r>
              <a:t>Empowering enterprises to process unstructured data at scale, reducing manual document review time by up to 80%.</a:t>
            </a:r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7509" y="1937068"/>
            <a:ext cx="8386445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900" spc="-860" dirty="0" smtClean="0">
                <a:solidFill>
                  <a:srgbClr val="3F87F6"/>
                </a:solidFill>
              </a:rPr>
              <a:t>Cl</a:t>
            </a:r>
            <a:r>
              <a:rPr sz="5900" b="1" spc="-254" dirty="0">
                <a:solidFill>
                  <a:srgbClr val="3D80F4"/>
                </a:solidFill>
              </a:rPr>
              <a:t>oud Natur</a:t>
            </a:r>
            <a:r>
              <a:rPr sz="5900" b="1" spc="-490" dirty="0">
                <a:solidFill>
                  <a:srgbClr val="3D80F4"/>
                </a:solidFill>
              </a:rPr>
              <a:t>a</a:t>
            </a:r>
            <a:r>
              <a:rPr sz="5900" b="1" spc="-10" dirty="0">
                <a:solidFill>
                  <a:srgbClr val="4485F2"/>
                </a:solidFill>
              </a:rPr>
              <a:t>l Language: T</a:t>
            </a:r>
            <a:r>
              <a:rPr sz="5900" b="1" spc="-409" dirty="0">
                <a:solidFill>
                  <a:srgbClr val="4485F2"/>
                </a:solidFill>
              </a:rPr>
              <a:t>ex</a:t>
            </a:r>
            <a:r>
              <a:rPr sz="5900" b="1" spc="-200" dirty="0">
                <a:solidFill>
                  <a:srgbClr val="3F85F6"/>
                </a:solidFill>
              </a:rPr>
              <a:t>t Intelligence</a:t>
            </a:r>
            <a:endParaRPr sz="59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74650" y="3982142"/>
            <a:ext cx="11582940" cy="395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 marR="45085" indent="-720090">
              <a:lnSpc>
                <a:spcPct val="100000"/>
              </a:lnSpc>
              <a:spcBef>
                <a:spcPts val="100"/>
              </a:spcBef>
              <a:tabLst>
                <a:tab pos="739140" algn="l"/>
                <a:tab pos="6525259" algn="l"/>
              </a:tabLst>
            </a:pPr>
            <a:r>
              <a:rPr dirty="0">
                <a:solidFill>
                  <a:srgbClr val="3F87ED"/>
                </a:solidFill>
              </a:rPr>
              <a:t/>
            </a:r>
            <a:r>
              <a:rPr b="1" spc="-17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Syntax</a:t>
            </a:r>
            <a:r>
              <a:rPr b="1" spc="-9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b="1" spc="-7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Analysis: Ext</a:t>
            </a:r>
            <a:r>
              <a:rPr b="1" spc="-16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</a:t>
            </a:r>
            <a:r>
              <a:rPr spc="-80" dirty="0"/>
              <a:t>ct ling</a:t>
            </a:r>
            <a:r>
              <a:rPr spc="-125" dirty="0"/>
              <a:t>ui</a:t>
            </a:r>
            <a:r>
              <a:rPr spc="-10" dirty="0" smtClean="0"/>
              <a:t>stic structur</a:t>
            </a:r>
            <a:r>
              <a:rPr lang="en-US" dirty="0"/>
              <a:t>e</a:t>
            </a:r>
            <a:r>
              <a:rPr spc="-20" dirty="0" smtClean="0">
                <a:solidFill>
                  <a:srgbClr val="1A1A1A"/>
                </a:solidFill>
              </a:rPr>
              <a:t> to cat</a:t>
            </a:r>
            <a:r>
              <a:rPr spc="-20" dirty="0">
                <a:solidFill>
                  <a:srgbClr val="1A1A1A"/>
                </a:solidFill>
              </a:rPr>
              <a:t>eg</a:t>
            </a:r>
            <a:r>
              <a:rPr spc="-165" dirty="0">
                <a:solidFill>
                  <a:srgbClr val="1A1A1A"/>
                </a:solidFill>
              </a:rPr>
              <a:t>o</a:t>
            </a:r>
            <a:r>
              <a:rPr spc="-195" dirty="0">
                <a:solidFill>
                  <a:srgbClr val="1F1F1F"/>
                </a:solidFill>
              </a:rPr>
              <a:t>rize d</a:t>
            </a:r>
            <a:r>
              <a:rPr spc="-85" dirty="0">
                <a:solidFill>
                  <a:srgbClr val="111111"/>
                </a:solidFill>
              </a:rPr>
              <a:t>ocuments and aut</a:t>
            </a:r>
            <a:r>
              <a:rPr dirty="0">
                <a:solidFill>
                  <a:srgbClr val="0E0E0E"/>
                </a:solidFill>
              </a:rPr>
              <a:t>omate </a:t>
            </a:r>
            <a:r>
              <a:rPr spc="-220" dirty="0">
                <a:solidFill>
                  <a:srgbClr val="0E0E0E"/>
                </a:solidFill>
              </a:rPr>
              <a:t>c</a:t>
            </a:r>
            <a:r>
              <a:rPr spc="-10" dirty="0"/>
              <a:t>ontent tagging.</a:t>
            </a:r>
          </a:p>
          <a:p>
            <a:pPr marL="743585" marR="175260" indent="-731520">
              <a:lnSpc>
                <a:spcPct val="109500"/>
              </a:lnSpc>
              <a:spcBef>
                <a:spcPts val="3120"/>
              </a:spcBef>
              <a:tabLst>
                <a:tab pos="738505" algn="l"/>
              </a:tabLst>
            </a:pPr>
            <a:r>
              <a:rPr sz="3200" dirty="0">
                <a:solidFill>
                  <a:srgbClr val="4980F4"/>
                </a:solidFill>
              </a:rPr>
              <a:t/>
            </a:r>
            <a:r>
              <a:rPr sz="3200" b="1" spc="-2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Sentiment Ana</a:t>
            </a:r>
            <a:r>
              <a:rPr sz="3200" spc="-20" dirty="0"/>
              <a:t>ly</a:t>
            </a:r>
            <a:r>
              <a:rPr sz="3200" spc="-10" dirty="0"/>
              <a:t>s</a:t>
            </a:r>
            <a:r>
              <a:rPr sz="3200" spc="-90" dirty="0">
                <a:solidFill>
                  <a:srgbClr val="1A1A1A"/>
                </a:solidFill>
              </a:rPr>
              <a:t>is: Qu</a:t>
            </a:r>
            <a:r>
              <a:rPr sz="3200" dirty="0"/>
              <a:t>antify cu</a:t>
            </a:r>
            <a:r>
              <a:rPr sz="3200" spc="-30" dirty="0"/>
              <a:t>st</a:t>
            </a:r>
            <a:r>
              <a:rPr sz="3200" dirty="0">
                <a:solidFill>
                  <a:srgbClr val="161616"/>
                </a:solidFill>
              </a:rPr>
              <a:t>omer</a:t>
            </a:r>
            <a:r>
              <a:rPr sz="3200" spc="-125" dirty="0">
                <a:solidFill>
                  <a:srgbClr val="161616"/>
                </a:solidFill>
              </a:rPr>
              <a:t> f</a:t>
            </a:r>
            <a:r>
              <a:rPr sz="3200" spc="-10" dirty="0">
                <a:solidFill>
                  <a:srgbClr val="1A1A1A"/>
                </a:solidFill>
              </a:rPr>
              <a:t>eedback em</a:t>
            </a:r>
            <a:r>
              <a:rPr sz="3200" spc="105" dirty="0">
                <a:solidFill>
                  <a:srgbClr val="1A1A1A"/>
                </a:solidFill>
              </a:rPr>
              <a:t>ot</a:t>
            </a:r>
            <a:r>
              <a:rPr sz="3200" spc="-10" dirty="0">
                <a:solidFill>
                  <a:srgbClr val="000000"/>
                </a:solidFill>
              </a:rPr>
              <a:t>ion to imp</a:t>
            </a:r>
            <a:r>
              <a:rPr sz="3200" dirty="0">
                <a:solidFill>
                  <a:srgbClr val="1D1D1D"/>
                </a:solidFill>
              </a:rPr>
              <a:t>rov</a:t>
            </a:r>
            <a:r>
              <a:rPr sz="3200" spc="-25" dirty="0">
                <a:solidFill>
                  <a:srgbClr val="1D1D1D"/>
                </a:solidFill>
              </a:rPr>
              <a:t>e</a:t>
            </a:r>
            <a:r>
              <a:rPr sz="3200" spc="-35" dirty="0">
                <a:solidFill>
                  <a:srgbClr val="1A1A1A"/>
                </a:solidFill>
              </a:rPr>
              <a:t> servi</a:t>
            </a:r>
            <a:r>
              <a:rPr sz="3200" spc="20" dirty="0">
                <a:solidFill>
                  <a:srgbClr val="1A1A1A"/>
                </a:solidFill>
              </a:rPr>
              <a:t>ce</a:t>
            </a:r>
            <a:r>
              <a:rPr sz="3200" dirty="0">
                <a:solidFill>
                  <a:srgbClr val="1F1F1F"/>
                </a:solidFill>
              </a:rPr>
              <a:t> in</a:t>
            </a:r>
            <a:r>
              <a:rPr sz="3200" spc="-220" dirty="0">
                <a:solidFill>
                  <a:srgbClr val="1F1F1F"/>
                </a:solidFill>
              </a:rPr>
              <a:t> </a:t>
            </a:r>
            <a:r>
              <a:rPr sz="3200" dirty="0"/>
              <a:t>retail and f</a:t>
            </a:r>
            <a:r>
              <a:rPr sz="3200" spc="65" dirty="0"/>
              <a:t>in</a:t>
            </a:r>
            <a:r>
              <a:rPr sz="3200" spc="-10" dirty="0"/>
              <a:t>ance sectors.</a:t>
            </a:r>
            <a:endParaRPr sz="3200" dirty="0"/>
          </a:p>
          <a:p>
            <a:pPr marL="741680" marR="5080" indent="-725805">
              <a:lnSpc>
                <a:spcPct val="103099"/>
              </a:lnSpc>
              <a:spcBef>
                <a:spcPts val="3060"/>
              </a:spcBef>
              <a:tabLst>
                <a:tab pos="730885" algn="l"/>
              </a:tabLst>
            </a:pPr>
            <a:r>
              <a:rPr dirty="0">
                <a:solidFill>
                  <a:srgbClr val="3889FF"/>
                </a:solidFill>
              </a:rPr>
              <a:t/>
            </a:r>
            <a:r>
              <a:rPr b="1" spc="-6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Entity Recogniti</a:t>
            </a:r>
            <a:r>
              <a:rPr b="1" spc="-14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</a:t>
            </a:r>
            <a:r>
              <a:rPr spc="-100" dirty="0"/>
              <a:t>: Identify and extract k</a:t>
            </a:r>
            <a:r>
              <a:rPr spc="-30" dirty="0"/>
              <a:t>ey</a:t>
            </a:r>
            <a:r>
              <a:rPr dirty="0">
                <a:solidFill>
                  <a:srgbClr val="1C1C1C"/>
                </a:solidFill>
              </a:rPr>
              <a:t> names, l</a:t>
            </a:r>
            <a:r>
              <a:rPr spc="-120" dirty="0">
                <a:solidFill>
                  <a:srgbClr val="1C1C1C"/>
                </a:solidFill>
              </a:rPr>
              <a:t>oc</a:t>
            </a:r>
            <a:r>
              <a:rPr spc="-140" dirty="0">
                <a:solidFill>
                  <a:srgbClr val="161616"/>
                </a:solidFill>
              </a:rPr>
              <a:t>ations, and</a:t>
            </a:r>
            <a:r>
              <a:rPr spc="-90" dirty="0">
                <a:solidFill>
                  <a:srgbClr val="161616"/>
                </a:solidFill>
              </a:rPr>
              <a:t> b</a:t>
            </a:r>
            <a:r>
              <a:rPr spc="-65" dirty="0">
                <a:solidFill>
                  <a:srgbClr val="0A0A0A"/>
                </a:solidFill>
              </a:rPr>
              <a:t>rands to strea</a:t>
            </a:r>
            <a:r>
              <a:rPr spc="-140" dirty="0">
                <a:solidFill>
                  <a:srgbClr val="161616"/>
                </a:solidFill>
              </a:rPr>
              <a:t>mline </a:t>
            </a:r>
            <a:r>
              <a:rPr spc="-95" dirty="0">
                <a:solidFill>
                  <a:srgbClr val="161616"/>
                </a:solidFill>
              </a:rPr>
              <a:t>he</a:t>
            </a:r>
            <a:r>
              <a:rPr spc="-65" dirty="0">
                <a:solidFill>
                  <a:srgbClr val="111111"/>
                </a:solidFill>
              </a:rPr>
              <a:t>althcare re</a:t>
            </a:r>
            <a:r>
              <a:rPr spc="-140" dirty="0">
                <a:solidFill>
                  <a:srgbClr val="111111"/>
                </a:solidFill>
              </a:rPr>
              <a:t>c</a:t>
            </a:r>
            <a:r>
              <a:rPr spc="-30" dirty="0">
                <a:solidFill>
                  <a:srgbClr val="1F1F1F"/>
                </a:solidFill>
              </a:rPr>
              <a:t>ord </a:t>
            </a:r>
            <a:r>
              <a:rPr spc="-204" dirty="0">
                <a:solidFill>
                  <a:srgbClr val="1F1F1F"/>
                </a:solidFill>
              </a:rPr>
              <a:t>pr</a:t>
            </a:r>
            <a:r>
              <a:rPr spc="-10" dirty="0">
                <a:solidFill>
                  <a:srgbClr val="111111"/>
                </a:solidFill>
              </a:rPr>
              <a:t>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4050" y="3529655"/>
            <a:ext cx="8638480" cy="56071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250" y="1387475"/>
            <a:ext cx="10414000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70230" algn="l"/>
              </a:tabLst>
            </a:pPr>
            <a:r>
              <a:rPr lang="en-US" sz="5900" b="1" spc="100" dirty="0" smtClean="0">
                <a:solidFill>
                  <a:srgbClr val="1D72DF"/>
                </a:solidFill>
              </a:rPr>
              <a:t>Vision &amp; Vid</a:t>
            </a:r>
            <a:r>
              <a:rPr lang="en-US" sz="5900" b="1" spc="-455" dirty="0" smtClean="0">
                <a:solidFill>
                  <a:srgbClr val="1D72DF"/>
                </a:solidFill>
              </a:rPr>
              <a:t>eo</a:t>
            </a:r>
            <a:r>
              <a:rPr lang="en-US" sz="5900" b="1" spc="280" dirty="0" smtClean="0">
                <a:solidFill>
                  <a:srgbClr val="1577E2"/>
                </a:solidFill>
              </a:rPr>
              <a:t xml:space="preserve"> Intelligence:</a:t>
            </a:r>
            <a:r>
              <a:rPr lang="en-US" sz="5900" b="1" spc="-490" dirty="0" smtClean="0">
                <a:solidFill>
                  <a:srgbClr val="1577E2"/>
                </a:solidFill>
              </a:rPr>
              <a:t> A</a:t>
            </a:r>
            <a:r>
              <a:rPr lang="en-US" sz="5900" b="1" spc="105" dirty="0" smtClean="0">
                <a:solidFill>
                  <a:srgbClr val="1872ED"/>
                </a:solidFill>
              </a:rPr>
              <a:t>utomated Visual Analysis</a:t>
            </a:r>
            <a:endParaRPr lang="en-US" sz="5900" b="1" dirty="0"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854302" y="3140075"/>
            <a:ext cx="9578748" cy="5791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0" marR="301625" indent="-654685">
              <a:lnSpc>
                <a:spcPct val="1137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733425" algn="l"/>
              </a:tabLst>
            </a:pPr>
            <a:r>
              <a:rPr sz="335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Vision API:</a:t>
            </a:r>
            <a:r>
              <a:rPr sz="3350" spc="6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E</a:t>
            </a:r>
            <a:r>
              <a:rPr sz="5025" spc="-30" baseline="5804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nabl</a:t>
            </a:r>
            <a:r>
              <a:rPr lang="en-US" sz="5025" spc="-30" baseline="12437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</a:t>
            </a:r>
            <a:r>
              <a:rPr sz="5025" spc="-30" baseline="12437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 </a:t>
            </a:r>
            <a:r>
              <a:rPr sz="5025" spc="-569" baseline="12437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im</a:t>
            </a:r>
            <a:r>
              <a:rPr sz="3350" dirty="0">
                <a:solidFill>
                  <a:srgbClr val="0E0E0E"/>
                </a:solidFill>
              </a:rPr>
              <a:t>age class</a:t>
            </a:r>
            <a:r>
              <a:rPr sz="3350" spc="105" dirty="0">
                <a:solidFill>
                  <a:srgbClr val="0E0E0E"/>
                </a:solidFill>
              </a:rPr>
              <a:t>if</a:t>
            </a:r>
            <a:r>
              <a:rPr sz="3350" spc="50" dirty="0">
                <a:solidFill>
                  <a:srgbClr val="0E0E0E"/>
                </a:solidFill>
              </a:rPr>
              <a:t>ication and objec</a:t>
            </a:r>
            <a:r>
              <a:rPr sz="3350" spc="415" dirty="0">
                <a:solidFill>
                  <a:srgbClr val="0E0E0E"/>
                </a:solidFill>
              </a:rPr>
              <a:t>t</a:t>
            </a:r>
            <a:r>
              <a:rPr sz="3350" dirty="0">
                <a:solidFill>
                  <a:srgbClr val="151515"/>
                </a:solidFill>
              </a:rPr>
              <a:t> detection</a:t>
            </a:r>
            <a:r>
              <a:rPr sz="3350" spc="250" dirty="0">
                <a:solidFill>
                  <a:srgbClr val="151515"/>
                </a:solidFill>
              </a:rPr>
              <a:t> </a:t>
            </a:r>
            <a:r>
              <a:rPr sz="3350" spc="-25" dirty="0">
                <a:solidFill>
                  <a:srgbClr val="000000"/>
                </a:solidFill>
              </a:rPr>
              <a:t>with 99%</a:t>
            </a:r>
            <a:r>
              <a:rPr sz="3350" dirty="0"/>
              <a:t> accura</a:t>
            </a:r>
            <a:r>
              <a:rPr sz="3350" spc="55" dirty="0"/>
              <a:t>cy</a:t>
            </a:r>
            <a:r>
              <a:rPr sz="3350" spc="60" dirty="0"/>
              <a:t> for enterpri</a:t>
            </a:r>
            <a:r>
              <a:rPr sz="3350" spc="35" dirty="0"/>
              <a:t>se</a:t>
            </a:r>
            <a:r>
              <a:rPr sz="3350" dirty="0">
                <a:solidFill>
                  <a:srgbClr val="1F1F1F"/>
                </a:solidFill>
              </a:rPr>
              <a:t> as</a:t>
            </a:r>
            <a:r>
              <a:rPr sz="3350" spc="-95" dirty="0">
                <a:solidFill>
                  <a:srgbClr val="1F1F1F"/>
                </a:solidFill>
              </a:rPr>
              <a:t>se</a:t>
            </a:r>
            <a:r>
              <a:rPr sz="3350" spc="45" dirty="0"/>
              <a:t>t management.</a:t>
            </a:r>
            <a:endParaRPr sz="3350" dirty="0"/>
          </a:p>
          <a:p>
            <a:pPr marL="737870" marR="1082675" indent="-662305">
              <a:lnSpc>
                <a:spcPct val="115399"/>
              </a:lnSpc>
              <a:spcBef>
                <a:spcPts val="2720"/>
              </a:spcBef>
              <a:buFont typeface="Wingdings" panose="05000000000000000000" pitchFamily="2" charset="2"/>
              <a:buChar char="Ø"/>
              <a:tabLst>
                <a:tab pos="733425" algn="l"/>
              </a:tabLst>
            </a:pPr>
            <a:r>
              <a:rPr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Video Inte</a:t>
            </a:r>
            <a:r>
              <a:rPr spc="9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ll</a:t>
            </a: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igence: Indexes video conte</a:t>
            </a:r>
            <a:r>
              <a:rPr spc="16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nt</a:t>
            </a:r>
            <a:r>
              <a:rPr dirty="0"/>
              <a:t> to enable gr</a:t>
            </a:r>
            <a:r>
              <a:rPr spc="20" dirty="0"/>
              <a:t>an</a:t>
            </a:r>
            <a:r>
              <a:rPr dirty="0"/>
              <a:t>ular s</a:t>
            </a:r>
            <a:r>
              <a:rPr spc="-25" dirty="0"/>
              <a:t>ea</a:t>
            </a:r>
            <a:r>
              <a:rPr spc="65" dirty="0">
                <a:solidFill>
                  <a:srgbClr val="161616"/>
                </a:solidFill>
              </a:rPr>
              <a:t>rch, utili</a:t>
            </a:r>
            <a:r>
              <a:rPr dirty="0">
                <a:solidFill>
                  <a:srgbClr val="131313"/>
                </a:solidFill>
              </a:rPr>
              <a:t>zed by media firm</a:t>
            </a:r>
            <a:r>
              <a:rPr spc="509" dirty="0">
                <a:solidFill>
                  <a:srgbClr val="131313"/>
                </a:solidFill>
              </a:rPr>
              <a:t>s </a:t>
            </a:r>
            <a:r>
              <a:rPr dirty="0">
                <a:solidFill>
                  <a:srgbClr val="181818"/>
                </a:solidFill>
              </a:rPr>
              <a:t>to reduce manu</a:t>
            </a:r>
            <a:r>
              <a:rPr spc="295" dirty="0">
                <a:solidFill>
                  <a:srgbClr val="181818"/>
                </a:solidFill>
              </a:rPr>
              <a:t>al</a:t>
            </a:r>
            <a:r>
              <a:rPr dirty="0">
                <a:solidFill>
                  <a:srgbClr val="212121"/>
                </a:solidFill>
              </a:rPr>
              <a:t> tag</a:t>
            </a:r>
            <a:r>
              <a:rPr spc="114" dirty="0">
                <a:solidFill>
                  <a:srgbClr val="212121"/>
                </a:solidFill>
              </a:rPr>
              <a:t>gin</a:t>
            </a:r>
            <a:r>
              <a:rPr spc="-10" dirty="0">
                <a:solidFill>
                  <a:srgbClr val="000000"/>
                </a:solidFill>
              </a:rPr>
              <a:t>g time by 80%.</a:t>
            </a:r>
          </a:p>
          <a:p>
            <a:pPr marL="727710" marR="2231390" indent="-652145">
              <a:lnSpc>
                <a:spcPct val="110800"/>
              </a:lnSpc>
              <a:spcBef>
                <a:spcPts val="2905"/>
              </a:spcBef>
              <a:buFont typeface="Wingdings" panose="05000000000000000000" pitchFamily="2" charset="2"/>
              <a:buChar char="Ø"/>
              <a:tabLst>
                <a:tab pos="725805" algn="l"/>
              </a:tabLst>
            </a:pPr>
            <a:r>
              <a:rPr lang="en-US" spc="-4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Detection Models: A</a:t>
            </a:r>
            <a:r>
              <a:rPr lang="en-US" spc="-7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ut</a:t>
            </a:r>
            <a:r>
              <a:rPr lang="en-US" spc="-15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omates extrac</a:t>
            </a:r>
            <a:r>
              <a:rPr lang="en-US" spc="-9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tion</a:t>
            </a:r>
            <a:r>
              <a:rPr dirty="0" smtClean="0">
                <a:solidFill>
                  <a:srgbClr val="131313"/>
                </a:solidFill>
              </a:rPr>
              <a:t> of text, fac</a:t>
            </a:r>
            <a:r>
              <a:rPr spc="215" dirty="0" smtClean="0">
                <a:solidFill>
                  <a:srgbClr val="131313"/>
                </a:solidFill>
              </a:rPr>
              <a:t>ia</a:t>
            </a:r>
            <a:r>
              <a:rPr spc="80" dirty="0"/>
              <a:t>l features,</a:t>
            </a:r>
            <a:r>
              <a:rPr spc="-80" dirty="0"/>
              <a:t> a</a:t>
            </a:r>
            <a:r>
              <a:rPr spc="70" dirty="0" smtClean="0">
                <a:solidFill>
                  <a:srgbClr val="181818"/>
                </a:solidFill>
              </a:rPr>
              <a:t>nd brand lo</a:t>
            </a:r>
            <a:r>
              <a:rPr lang="en-US" spc="70" dirty="0" smtClean="0">
                <a:solidFill>
                  <a:srgbClr val="181818"/>
                </a:solidFill>
              </a:rPr>
              <a:t>gos for retail inve</a:t>
            </a:r>
            <a:r>
              <a:rPr spc="40" dirty="0" smtClean="0">
                <a:solidFill>
                  <a:srgbClr val="000000"/>
                </a:solidFill>
              </a:rPr>
              <a:t>ntory and security monitorin</a:t>
            </a:r>
            <a:r>
              <a:rPr spc="40" dirty="0">
                <a:solidFill>
                  <a:srgbClr val="000000"/>
                </a:solidFill>
              </a:rPr>
              <a:t>g.</a:t>
            </a:r>
          </a:p>
          <a:p>
            <a:pPr marL="723265" marR="17780" indent="-647700">
              <a:lnSpc>
                <a:spcPct val="110800"/>
              </a:lnSpc>
              <a:spcBef>
                <a:spcPts val="3150"/>
              </a:spcBef>
              <a:buFont typeface="Wingdings" panose="05000000000000000000" pitchFamily="2" charset="2"/>
              <a:buChar char="Ø"/>
              <a:tabLst>
                <a:tab pos="730250" algn="l"/>
              </a:tabLst>
            </a:pPr>
            <a:r>
              <a:rPr dirty="0">
                <a:solidFill>
                  <a:srgbClr val="1C72E6"/>
                </a:solidFill>
              </a:rPr>
              <a:t/>
            </a:r>
            <a:r>
              <a:rPr lang="en-US" spc="-9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Industry</a:t>
            </a:r>
            <a:r>
              <a:rPr lang="en-US" spc="-6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Applicat</a:t>
            </a:r>
            <a:r>
              <a:rPr lang="en-US" spc="-3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US" spc="-5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on: Streamlines visual</a:t>
            </a:r>
            <a:r>
              <a:rPr dirty="0" smtClean="0">
                <a:solidFill>
                  <a:srgbClr val="151515"/>
                </a:solidFill>
              </a:rPr>
              <a:t> content organ</a:t>
            </a:r>
            <a:r>
              <a:rPr spc="135" dirty="0" smtClean="0">
                <a:solidFill>
                  <a:srgbClr val="151515"/>
                </a:solidFill>
              </a:rPr>
              <a:t>i</a:t>
            </a:r>
            <a:r>
              <a:rPr dirty="0">
                <a:solidFill>
                  <a:srgbClr val="0F0F0F"/>
                </a:solidFill>
              </a:rPr>
              <a:t>zation </a:t>
            </a:r>
            <a:r>
              <a:rPr spc="40" dirty="0">
                <a:solidFill>
                  <a:srgbClr val="0F0F0F"/>
                </a:solidFill>
              </a:rPr>
              <a:t>fo</a:t>
            </a:r>
            <a:r>
              <a:rPr dirty="0"/>
              <a:t>r healthcare di</a:t>
            </a:r>
            <a:r>
              <a:rPr spc="120" dirty="0"/>
              <a:t>a</a:t>
            </a:r>
            <a:r>
              <a:rPr spc="50" dirty="0">
                <a:solidFill>
                  <a:srgbClr val="1A1A1A"/>
                </a:solidFill>
              </a:rPr>
              <a:t>gnos</a:t>
            </a:r>
            <a:r>
              <a:rPr spc="229" dirty="0">
                <a:solidFill>
                  <a:srgbClr val="1A1A1A"/>
                </a:solidFill>
              </a:rPr>
              <a:t>t</a:t>
            </a:r>
            <a:r>
              <a:rPr dirty="0">
                <a:solidFill>
                  <a:srgbClr val="0F0F0F"/>
                </a:solidFill>
              </a:rPr>
              <a:t>ics and reta</a:t>
            </a:r>
            <a:r>
              <a:rPr spc="-10" dirty="0">
                <a:solidFill>
                  <a:srgbClr val="131313"/>
                </a:solidFill>
              </a:rPr>
              <a:t>il product cat</a:t>
            </a:r>
            <a:r>
              <a:rPr spc="85" dirty="0">
                <a:solidFill>
                  <a:srgbClr val="0F0F0F"/>
                </a:solidFill>
              </a:rPr>
              <a:t>aloging.</a:t>
            </a:r>
          </a:p>
        </p:txBody>
      </p:sp>
    </p:spTree>
    <p:extLst>
      <p:ext uri="{BB962C8B-B14F-4D97-AF65-F5344CB8AC3E}">
        <p14:creationId xmlns:p14="http://schemas.microsoft.com/office/powerpoint/2010/main" val="325708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2650" y="2073275"/>
            <a:ext cx="7613650" cy="62563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5736" y="1158875"/>
            <a:ext cx="8308114" cy="1909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7220"/>
              </a:lnSpc>
              <a:spcBef>
                <a:spcPts val="130"/>
              </a:spcBef>
            </a:pPr>
            <a:r>
              <a:rPr sz="6150" b="1" spc="-75" dirty="0" smtClean="0">
                <a:solidFill>
                  <a:srgbClr val="1D70E6"/>
                </a:solidFill>
              </a:rPr>
              <a:t>Cl</a:t>
            </a:r>
            <a:r>
              <a:rPr lang="en-US" sz="6150" b="1" spc="-75" dirty="0" smtClean="0">
                <a:solidFill>
                  <a:srgbClr val="1D70E6"/>
                </a:solidFill>
              </a:rPr>
              <a:t>o</a:t>
            </a:r>
            <a:r>
              <a:rPr sz="6150" b="1" spc="-75" dirty="0" smtClean="0">
                <a:solidFill>
                  <a:srgbClr val="1D70E6"/>
                </a:solidFill>
              </a:rPr>
              <a:t>ud</a:t>
            </a:r>
            <a:r>
              <a:rPr sz="6150" b="1" spc="-470" dirty="0" smtClean="0">
                <a:solidFill>
                  <a:srgbClr val="1D70E6"/>
                </a:solidFill>
              </a:rPr>
              <a:t> </a:t>
            </a:r>
            <a:r>
              <a:rPr sz="6150" b="1" spc="-10" dirty="0">
                <a:solidFill>
                  <a:srgbClr val="1C70F2"/>
                </a:solidFill>
              </a:rPr>
              <a:t>Translation</a:t>
            </a:r>
            <a:endParaRPr sz="6150" b="1" dirty="0"/>
          </a:p>
          <a:p>
            <a:pPr marL="35560">
              <a:lnSpc>
                <a:spcPts val="7580"/>
              </a:lnSpc>
            </a:pPr>
            <a:r>
              <a:rPr sz="6450" b="1" spc="-345" dirty="0">
                <a:solidFill>
                  <a:srgbClr val="1675E6"/>
                </a:solidFill>
              </a:rPr>
              <a:t>API Capabilities</a:t>
            </a:r>
            <a:endParaRPr sz="6450" b="1" dirty="0"/>
          </a:p>
        </p:txBody>
      </p:sp>
      <p:sp>
        <p:nvSpPr>
          <p:cNvPr id="4" name="object 4"/>
          <p:cNvSpPr txBox="1"/>
          <p:nvPr/>
        </p:nvSpPr>
        <p:spPr>
          <a:xfrm>
            <a:off x="905736" y="3733913"/>
            <a:ext cx="9679714" cy="5036763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735" marR="302895" indent="-6350">
              <a:lnSpc>
                <a:spcPct val="101299"/>
              </a:lnSpc>
              <a:spcBef>
                <a:spcPts val="65"/>
              </a:spcBef>
            </a:pPr>
            <a:r>
              <a:rPr lang="en-US" sz="2950" b="1" spc="60" dirty="0" smtClean="0">
                <a:solidFill>
                  <a:srgbClr val="525252"/>
                </a:solidFill>
                <a:latin typeface="Arial MT"/>
                <a:cs typeface="Arial MT"/>
              </a:rPr>
              <a:t>Automate r</a:t>
            </a:r>
            <a:r>
              <a:rPr lang="en-US" sz="2950" b="1" spc="375" dirty="0" smtClean="0">
                <a:solidFill>
                  <a:srgbClr val="525252"/>
                </a:solidFill>
                <a:latin typeface="Arial MT"/>
                <a:cs typeface="Arial MT"/>
              </a:rPr>
              <a:t>e</a:t>
            </a:r>
            <a:r>
              <a:rPr lang="en-US" sz="2950" b="1" dirty="0" smtClean="0">
                <a:solidFill>
                  <a:srgbClr val="424242"/>
                </a:solidFill>
                <a:latin typeface="Arial MT"/>
                <a:cs typeface="Arial MT"/>
              </a:rPr>
              <a:t>al-time t</a:t>
            </a:r>
            <a:r>
              <a:rPr lang="en-US" sz="2950" b="1" spc="495" dirty="0" smtClean="0">
                <a:solidFill>
                  <a:srgbClr val="424242"/>
                </a:solidFill>
                <a:latin typeface="Arial MT"/>
                <a:cs typeface="Arial MT"/>
              </a:rPr>
              <a:t>e</a:t>
            </a:r>
            <a:r>
              <a:rPr lang="en-US" sz="2950" b="1" spc="55" dirty="0" smtClean="0">
                <a:solidFill>
                  <a:srgbClr val="545454"/>
                </a:solidFill>
                <a:latin typeface="Arial MT"/>
                <a:cs typeface="Arial MT"/>
              </a:rPr>
              <a:t>xt tr</a:t>
            </a:r>
            <a:r>
              <a:rPr lang="en-US" sz="2950" b="1" spc="385" dirty="0" smtClean="0">
                <a:solidFill>
                  <a:srgbClr val="545454"/>
                </a:solidFill>
                <a:latin typeface="Arial MT"/>
                <a:cs typeface="Arial MT"/>
              </a:rPr>
              <a:t>a</a:t>
            </a:r>
            <a:r>
              <a:rPr lang="en-US" sz="2950" b="1" spc="100" dirty="0" smtClean="0">
                <a:solidFill>
                  <a:srgbClr val="595959"/>
                </a:solidFill>
                <a:latin typeface="Arial MT"/>
                <a:cs typeface="Arial MT"/>
              </a:rPr>
              <a:t>nsla</a:t>
            </a:r>
            <a:r>
              <a:rPr lang="en-US" sz="2950" b="1" spc="450" dirty="0" smtClean="0">
                <a:solidFill>
                  <a:srgbClr val="595959"/>
                </a:solidFill>
                <a:latin typeface="Arial MT"/>
                <a:cs typeface="Arial MT"/>
              </a:rPr>
              <a:t>t</a:t>
            </a:r>
            <a:r>
              <a:rPr lang="en-US" sz="2950" b="1" dirty="0" smtClean="0">
                <a:solidFill>
                  <a:srgbClr val="575757"/>
                </a:solidFill>
                <a:latin typeface="Arial MT"/>
                <a:cs typeface="Arial MT"/>
              </a:rPr>
              <a:t>ion</a:t>
            </a:r>
            <a:r>
              <a:rPr lang="en-US" sz="2950" b="1" spc="340" dirty="0" smtClean="0">
                <a:solidFill>
                  <a:srgbClr val="575757"/>
                </a:solidFill>
                <a:latin typeface="Arial MT"/>
                <a:cs typeface="Arial MT"/>
              </a:rPr>
              <a:t> a</a:t>
            </a:r>
            <a:r>
              <a:rPr lang="en-US" sz="2950" b="1" dirty="0" smtClean="0">
                <a:solidFill>
                  <a:srgbClr val="5D5D5D"/>
                </a:solidFill>
                <a:latin typeface="Arial MT"/>
                <a:cs typeface="Arial MT"/>
              </a:rPr>
              <a:t>cross 13</a:t>
            </a:r>
            <a:r>
              <a:rPr lang="en-US" sz="2950" b="1" spc="434" dirty="0" smtClean="0">
                <a:solidFill>
                  <a:srgbClr val="5D5D5D"/>
                </a:solidFill>
                <a:latin typeface="Arial MT"/>
                <a:cs typeface="Arial MT"/>
              </a:rPr>
              <a:t>5</a:t>
            </a:r>
            <a:r>
              <a:rPr lang="en-US" sz="2950" b="1" spc="65" dirty="0" smtClean="0">
                <a:solidFill>
                  <a:srgbClr val="575757"/>
                </a:solidFill>
                <a:latin typeface="Arial MT"/>
                <a:cs typeface="Arial MT"/>
              </a:rPr>
              <a:t>+ l</a:t>
            </a:r>
            <a:r>
              <a:rPr lang="en-US" sz="2950" b="1" spc="-10" dirty="0" smtClean="0">
                <a:solidFill>
                  <a:srgbClr val="545454"/>
                </a:solidFill>
                <a:latin typeface="Arial MT"/>
                <a:cs typeface="Arial MT"/>
              </a:rPr>
              <a:t>anguages.</a:t>
            </a:r>
            <a:endParaRPr lang="en-US" sz="2950" b="1" dirty="0" smtClean="0">
              <a:latin typeface="Arial MT"/>
              <a:cs typeface="Arial MT"/>
            </a:endParaRPr>
          </a:p>
          <a:p>
            <a:pPr marL="584835" indent="-571500">
              <a:lnSpc>
                <a:spcPct val="100000"/>
              </a:lnSpc>
              <a:spcBef>
                <a:spcPts val="2615"/>
              </a:spcBef>
              <a:buFont typeface="Wingdings" panose="05000000000000000000" pitchFamily="2" charset="2"/>
              <a:buChar char="q"/>
              <a:tabLst>
                <a:tab pos="668655" algn="l"/>
              </a:tabLst>
            </a:pPr>
            <a:r>
              <a:rPr sz="3600" dirty="0">
                <a:solidFill>
                  <a:srgbClr val="1875E4"/>
                </a:solidFill>
                <a:latin typeface="Arial MT"/>
                <a:cs typeface="Arial MT"/>
              </a:rPr>
              <a:t/>
            </a:r>
            <a:r>
              <a:rPr sz="3600" dirty="0">
                <a:latin typeface="Arial MT"/>
                <a:cs typeface="Arial MT"/>
              </a:rPr>
              <a:t>Scale global op</a:t>
            </a:r>
            <a:r>
              <a:rPr sz="3600" spc="229" dirty="0">
                <a:latin typeface="Arial MT"/>
                <a:cs typeface="Arial MT"/>
              </a:rPr>
              <a:t>er</a:t>
            </a:r>
            <a:r>
              <a:rPr sz="3600" dirty="0">
                <a:latin typeface="Arial MT"/>
                <a:cs typeface="Arial MT"/>
              </a:rPr>
              <a:t>ations with suppo</a:t>
            </a:r>
            <a:r>
              <a:rPr sz="3600" spc="385" dirty="0">
                <a:latin typeface="Arial MT"/>
                <a:cs typeface="Arial MT"/>
              </a:rPr>
              <a:t>r</a:t>
            </a:r>
            <a:r>
              <a:rPr sz="3600" dirty="0">
                <a:latin typeface="Arial MT"/>
                <a:cs typeface="Arial MT"/>
              </a:rPr>
              <a:t>t fo</a:t>
            </a:r>
            <a:r>
              <a:rPr sz="3600" spc="300" dirty="0">
                <a:latin typeface="Arial MT"/>
                <a:cs typeface="Arial MT"/>
              </a:rPr>
              <a:t>r </a:t>
            </a:r>
            <a:r>
              <a:rPr sz="3600" dirty="0">
                <a:solidFill>
                  <a:srgbClr val="0E0E0E"/>
                </a:solidFill>
                <a:latin typeface="Arial MT"/>
                <a:cs typeface="Arial MT"/>
              </a:rPr>
              <a:t>thousands of la</a:t>
            </a:r>
            <a:r>
              <a:rPr sz="3600" spc="305" dirty="0">
                <a:solidFill>
                  <a:srgbClr val="0E0E0E"/>
                </a:solidFill>
                <a:latin typeface="Arial MT"/>
                <a:cs typeface="Arial MT"/>
              </a:rPr>
              <a:t>ng</a:t>
            </a:r>
            <a:r>
              <a:rPr sz="3600" spc="-10" dirty="0">
                <a:solidFill>
                  <a:srgbClr val="0F0F0F"/>
                </a:solidFill>
                <a:latin typeface="Arial MT"/>
                <a:cs typeface="Arial MT"/>
              </a:rPr>
              <a:t>uage pairs.</a:t>
            </a:r>
            <a:endParaRPr sz="3600" dirty="0">
              <a:latin typeface="Arial MT"/>
              <a:cs typeface="Arial MT"/>
            </a:endParaRPr>
          </a:p>
          <a:p>
            <a:pPr marL="678815" marR="655320" indent="-666750">
              <a:lnSpc>
                <a:spcPct val="110500"/>
              </a:lnSpc>
              <a:spcBef>
                <a:spcPts val="2865"/>
              </a:spcBef>
              <a:buFont typeface="Wingdings" panose="05000000000000000000" pitchFamily="2" charset="2"/>
              <a:buChar char="q"/>
              <a:tabLst>
                <a:tab pos="667385" algn="l"/>
              </a:tabLst>
            </a:pPr>
            <a:r>
              <a:rPr sz="3600" dirty="0">
                <a:solidFill>
                  <a:srgbClr val="1D70E6"/>
                </a:solidFill>
                <a:latin typeface="Arial MT"/>
                <a:cs typeface="Arial MT"/>
              </a:rPr>
              <a:t/>
            </a:r>
            <a:r>
              <a:rPr sz="3600" spc="-85" dirty="0">
                <a:solidFill>
                  <a:srgbClr val="0F0F0F"/>
                </a:solidFill>
                <a:latin typeface="Arial MT"/>
                <a:cs typeface="Arial MT"/>
              </a:rPr>
              <a:t>Process</a:t>
            </a:r>
            <a:r>
              <a:rPr sz="3600" spc="-1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F0F0F"/>
                </a:solidFill>
                <a:latin typeface="Arial MT"/>
                <a:cs typeface="Arial MT"/>
              </a:rPr>
              <a:t>millions of r</a:t>
            </a:r>
            <a:r>
              <a:rPr sz="3600" spc="-110" dirty="0">
                <a:solidFill>
                  <a:srgbClr val="0F0F0F"/>
                </a:solidFill>
                <a:latin typeface="Arial MT"/>
                <a:cs typeface="Arial MT"/>
              </a:rPr>
              <a:t>e</a:t>
            </a:r>
            <a:r>
              <a:rPr sz="3600" dirty="0">
                <a:solidFill>
                  <a:srgbClr val="151515"/>
                </a:solidFill>
                <a:latin typeface="Arial MT"/>
                <a:cs typeface="Arial MT"/>
              </a:rPr>
              <a:t>quest</a:t>
            </a:r>
            <a:r>
              <a:rPr sz="3600" spc="-135" dirty="0">
                <a:solidFill>
                  <a:srgbClr val="151515"/>
                </a:solidFill>
                <a:latin typeface="Arial MT"/>
                <a:cs typeface="Arial MT"/>
              </a:rPr>
              <a:t>s</a:t>
            </a:r>
            <a:r>
              <a:rPr sz="3600" dirty="0">
                <a:solidFill>
                  <a:srgbClr val="0F0F0F"/>
                </a:solidFill>
                <a:latin typeface="Arial MT"/>
                <a:cs typeface="Arial MT"/>
              </a:rPr>
              <a:t> daily</a:t>
            </a:r>
            <a:r>
              <a:rPr sz="3600" spc="-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131313"/>
                </a:solidFill>
                <a:latin typeface="Arial MT"/>
                <a:cs typeface="Arial MT"/>
              </a:rPr>
              <a:t>wit</a:t>
            </a:r>
            <a:r>
              <a:rPr sz="3600" spc="-45" dirty="0">
                <a:solidFill>
                  <a:srgbClr val="131313"/>
                </a:solidFill>
                <a:latin typeface="Arial MT"/>
                <a:cs typeface="Arial MT"/>
              </a:rPr>
              <a:t>h</a:t>
            </a:r>
            <a:r>
              <a:rPr sz="3600" spc="-35" dirty="0">
                <a:solidFill>
                  <a:srgbClr val="181818"/>
                </a:solidFill>
                <a:latin typeface="Arial MT"/>
                <a:cs typeface="Arial MT"/>
              </a:rPr>
              <a:t> industry-lea</a:t>
            </a:r>
            <a:r>
              <a:rPr sz="3600" spc="-10" dirty="0">
                <a:solidFill>
                  <a:srgbClr val="0F0F0F"/>
                </a:solidFill>
                <a:latin typeface="Arial MT"/>
                <a:cs typeface="Arial MT"/>
              </a:rPr>
              <a:t>ding accuracy.</a:t>
            </a:r>
            <a:endParaRPr sz="3600" dirty="0">
              <a:latin typeface="Arial MT"/>
              <a:cs typeface="Arial MT"/>
            </a:endParaRPr>
          </a:p>
          <a:p>
            <a:pPr marL="674370" marR="566420" indent="-661670">
              <a:lnSpc>
                <a:spcPct val="113799"/>
              </a:lnSpc>
              <a:spcBef>
                <a:spcPts val="2825"/>
              </a:spcBef>
              <a:buFont typeface="Wingdings" panose="05000000000000000000" pitchFamily="2" charset="2"/>
              <a:buChar char="q"/>
              <a:tabLst>
                <a:tab pos="666750" algn="l"/>
              </a:tabLst>
            </a:pPr>
            <a:r>
              <a:rPr sz="3600" dirty="0" smtClean="0">
                <a:solidFill>
                  <a:srgbClr val="1A72E6"/>
                </a:solidFill>
                <a:latin typeface="Arial MT"/>
                <a:cs typeface="Arial MT"/>
              </a:rPr>
              <a:t/>
            </a:r>
            <a:r>
              <a:rPr sz="3600" dirty="0" smtClean="0">
                <a:solidFill>
                  <a:srgbClr val="131313"/>
                </a:solidFill>
                <a:latin typeface="Arial MT"/>
                <a:cs typeface="Arial MT"/>
              </a:rPr>
              <a:t>Enable glob</a:t>
            </a:r>
            <a:r>
              <a:rPr sz="3600" spc="430" dirty="0" smtClean="0">
                <a:solidFill>
                  <a:srgbClr val="131313"/>
                </a:solidFill>
                <a:latin typeface="Arial MT"/>
                <a:cs typeface="Arial MT"/>
              </a:rPr>
              <a:t>al</a:t>
            </a:r>
            <a:r>
              <a:rPr sz="3600" dirty="0">
                <a:solidFill>
                  <a:srgbClr val="0F0F0F"/>
                </a:solidFill>
                <a:latin typeface="Arial MT"/>
                <a:cs typeface="Arial MT"/>
              </a:rPr>
              <a:t> engag</a:t>
            </a:r>
            <a:r>
              <a:rPr sz="3600" spc="30" dirty="0">
                <a:solidFill>
                  <a:srgbClr val="0F0F0F"/>
                </a:solidFill>
                <a:latin typeface="Arial MT"/>
                <a:cs typeface="Arial MT"/>
              </a:rPr>
              <a:t>em</a:t>
            </a:r>
            <a:r>
              <a:rPr sz="3600" dirty="0">
                <a:solidFill>
                  <a:srgbClr val="151515"/>
                </a:solidFill>
                <a:latin typeface="Arial MT"/>
                <a:cs typeface="Arial MT"/>
              </a:rPr>
              <a:t>ent in re</a:t>
            </a:r>
            <a:r>
              <a:rPr sz="3600" spc="150" dirty="0">
                <a:solidFill>
                  <a:srgbClr val="151515"/>
                </a:solidFill>
                <a:latin typeface="Arial MT"/>
                <a:cs typeface="Arial MT"/>
              </a:rPr>
              <a:t>ta</a:t>
            </a:r>
            <a:r>
              <a:rPr sz="3600" dirty="0">
                <a:solidFill>
                  <a:srgbClr val="0E0E0E"/>
                </a:solidFill>
                <a:latin typeface="Arial MT"/>
                <a:cs typeface="Arial MT"/>
              </a:rPr>
              <a:t>il, </a:t>
            </a:r>
            <a:r>
              <a:rPr sz="3600" spc="95" dirty="0">
                <a:solidFill>
                  <a:srgbClr val="0E0E0E"/>
                </a:solidFill>
                <a:latin typeface="Arial MT"/>
                <a:cs typeface="Arial MT"/>
              </a:rPr>
              <a:t>fi</a:t>
            </a:r>
            <a:r>
              <a:rPr sz="3600" spc="-10" dirty="0">
                <a:solidFill>
                  <a:srgbClr val="111111"/>
                </a:solidFill>
                <a:latin typeface="Arial MT"/>
                <a:cs typeface="Arial MT"/>
              </a:rPr>
              <a:t>nance, and healt</a:t>
            </a:r>
            <a:r>
              <a:rPr sz="3600" spc="-10" dirty="0">
                <a:solidFill>
                  <a:srgbClr val="0C0C0C"/>
                </a:solidFill>
                <a:latin typeface="Arial MT"/>
                <a:cs typeface="Arial MT"/>
              </a:rPr>
              <a:t>hcare sectors.</a:t>
            </a:r>
            <a:endParaRPr sz="3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7512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650" y="1235075"/>
            <a:ext cx="18458982" cy="1055043"/>
          </a:xfrm>
          <a:prstGeom prst="rect">
            <a:avLst/>
          </a:prstGeom>
        </p:spPr>
        <p:txBody>
          <a:bodyPr vert="horz" wrap="square" lIns="0" tIns="130439" rIns="0" bIns="0" rtlCol="0">
            <a:spAutoFit/>
          </a:bodyPr>
          <a:lstStyle/>
          <a:p>
            <a:pPr marL="605790">
              <a:lnSpc>
                <a:spcPct val="100000"/>
              </a:lnSpc>
              <a:spcBef>
                <a:spcPts val="114"/>
              </a:spcBef>
            </a:pPr>
            <a:r>
              <a:rPr sz="6000" b="1" spc="240" dirty="0" smtClean="0">
                <a:solidFill>
                  <a:srgbClr val="1D70E8"/>
                </a:solidFill>
              </a:rPr>
              <a:t>Google Cloud AI: Core Capabili</a:t>
            </a:r>
            <a:r>
              <a:rPr lang="en-US" sz="6000" b="1" spc="240" dirty="0" smtClean="0">
                <a:solidFill>
                  <a:srgbClr val="1D70E8"/>
                </a:solidFill>
              </a:rPr>
              <a:t>ties</a:t>
            </a:r>
            <a:endParaRPr sz="6000" b="1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3900" y="3245564"/>
            <a:ext cx="1892935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Custom Developm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t: Build bespoke models with AutoML and Vertex AI, en</a:t>
            </a:r>
            <a:r>
              <a:rPr kumimoji="0" lang="en-US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abling 5x f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aster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for retail and finance applicati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High-Performance Infrastru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ure: Accelerate training workloads using Cloud TPUs, reducing compute time by up to 80% fo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complex neural netw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orks.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Language Intelligence: Leverage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atural Language and Translation APIs to process global communications,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supporting 100+ languages for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en</a:t>
            </a:r>
            <a:r>
              <a:rPr kumimoji="0" lang="en-US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te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rprise customer supp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ort.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Perception &amp; Senso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 AI: Deploy Vision, Video, and Speech APIs to automate healthcare diagnostics and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security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itoring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r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eal-time d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analys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is.</a:t>
            </a:r>
          </a:p>
        </p:txBody>
      </p:sp>
    </p:spTree>
    <p:extLst>
      <p:ext uri="{BB962C8B-B14F-4D97-AF65-F5344CB8AC3E}">
        <p14:creationId xmlns:p14="http://schemas.microsoft.com/office/powerpoint/2010/main" val="149228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7450" y="3063875"/>
            <a:ext cx="10896600" cy="457625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lang="en-US" sz="12600" spc="-110" dirty="0" smtClean="0">
                <a:solidFill>
                  <a:srgbClr val="4285F6"/>
                </a:solidFill>
              </a:rPr>
              <a:t>Que</a:t>
            </a:r>
            <a:br>
              <a:rPr lang="en-US" sz="12600" spc="-110" dirty="0" smtClean="0">
                <a:solidFill>
                  <a:srgbClr val="4285F6"/>
                </a:solidFill>
              </a:rPr>
            </a:br>
            <a:r>
              <a:rPr lang="en-US" sz="12600" spc="-110" dirty="0" smtClean="0">
                <a:solidFill>
                  <a:srgbClr val="4285F6"/>
                </a:solidFill>
              </a:rPr>
              <a:t>s</a:t>
            </a:r>
            <a:r>
              <a:rPr sz="12600" spc="-110" dirty="0" smtClean="0">
                <a:solidFill>
                  <a:srgbClr val="4285F6"/>
                </a:solidFill>
              </a:rPr>
              <a:t>tions? T</a:t>
            </a:r>
            <a:r>
              <a:rPr lang="en-US" sz="12600" dirty="0" smtClean="0"/>
              <a:t/>
            </a:r>
            <a:br>
              <a:rPr lang="en-US" sz="12600" dirty="0" smtClean="0"/>
            </a:br>
            <a:r>
              <a:rPr sz="4350" spc="-114" dirty="0" smtClean="0">
                <a:solidFill>
                  <a:srgbClr val="525252"/>
                </a:solidFill>
              </a:rPr>
              <a:t>hank </a:t>
            </a:r>
            <a:r>
              <a:rPr sz="4350" spc="-150" dirty="0" smtClean="0">
                <a:solidFill>
                  <a:srgbClr val="525252"/>
                </a:solidFill>
              </a:rPr>
              <a:t>y</a:t>
            </a:r>
            <a:r>
              <a:rPr sz="4350" spc="-85" dirty="0">
                <a:solidFill>
                  <a:srgbClr val="525252"/>
                </a:solidFill>
              </a:rPr>
              <a:t>ou </a:t>
            </a:r>
            <a:r>
              <a:rPr sz="4350" spc="-220" dirty="0">
                <a:solidFill>
                  <a:srgbClr val="525252"/>
                </a:solidFill>
              </a:rPr>
              <a:t>f</a:t>
            </a:r>
            <a:r>
              <a:rPr sz="4350" dirty="0">
                <a:solidFill>
                  <a:srgbClr val="565656"/>
                </a:solidFill>
              </a:rPr>
              <a:t>or </a:t>
            </a:r>
            <a:r>
              <a:rPr sz="4350" spc="-95" dirty="0">
                <a:solidFill>
                  <a:srgbClr val="565656"/>
                </a:solidFill>
              </a:rPr>
              <a:t>y</a:t>
            </a:r>
            <a:r>
              <a:rPr sz="4350" spc="-65" dirty="0">
                <a:solidFill>
                  <a:srgbClr val="545454"/>
                </a:solidFill>
              </a:rPr>
              <a:t>our</a:t>
            </a:r>
            <a:r>
              <a:rPr sz="4350" spc="-135" dirty="0">
                <a:solidFill>
                  <a:srgbClr val="545454"/>
                </a:solidFill>
              </a:rPr>
              <a:t> </a:t>
            </a:r>
            <a:r>
              <a:rPr sz="4350" spc="-10" dirty="0">
                <a:solidFill>
                  <a:srgbClr val="525252"/>
                </a:solidFill>
              </a:rPr>
              <a:t>time.</a:t>
            </a:r>
            <a:endParaRPr sz="4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299</Words>
  <Application>Microsoft Office PowerPoint</Application>
  <PresentationFormat>Custom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Wingdings</vt:lpstr>
      <vt:lpstr>Office Theme</vt:lpstr>
      <vt:lpstr>PowerPoint Presentation</vt:lpstr>
      <vt:lpstr>What is Cloud AI?</vt:lpstr>
      <vt:lpstr>Cloud TPU: Tensor Processing Unit</vt:lpstr>
      <vt:lpstr> BUILDING YOUR OWN AI</vt:lpstr>
      <vt:lpstr> Cloud Natural Language</vt:lpstr>
      <vt:lpstr>Vision &amp;Video Intelligence</vt:lpstr>
      <vt:lpstr>Cloud Translation API</vt:lpstr>
      <vt:lpstr>Summary:</vt:lpstr>
      <vt:lpstr>Any Questions? Thank you for your time!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Ayesha baig</dc:creator>
  <cp:lastModifiedBy>dell</cp:lastModifiedBy>
  <cp:revision>8</cp:revision>
  <dcterms:created xsi:type="dcterms:W3CDTF">2026-05-15T17:07:23Z</dcterms:created>
  <dcterms:modified xsi:type="dcterms:W3CDTF">2026-05-15T18:12:16Z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LastSaved">
    <vt:filetime>2026-05-15T00:00:00Z</vt:filetime>
  </property>
</Properties>
</file>