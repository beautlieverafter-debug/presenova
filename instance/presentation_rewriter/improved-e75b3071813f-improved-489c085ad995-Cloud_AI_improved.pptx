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jpg" ContentType="image/jpg"/>
  <Override PartName="/ppt/media/image6.jpg" ContentType="image/jpg"/>
  <Override PartName="/ppt/media/image8.jpg" ContentType="image/jpg"/>
  <Override PartName="/ppt/media/image9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6" r:id="rId7"/>
    <p:sldId id="265" r:id="rId8"/>
    <p:sldId id="267" r:id="rId9"/>
    <p:sldId id="263" r:id="rId10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9" d="100"/>
          <a:sy n="39" d="100"/>
        </p:scale>
        <p:origin x="716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5" y="11182905"/>
            <a:ext cx="5026025" cy="12565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1182905"/>
            <a:ext cx="10067925" cy="125730"/>
          </a:xfrm>
          <a:custGeom>
            <a:avLst/>
            <a:gdLst/>
            <a:ahLst/>
            <a:cxnLst/>
            <a:rect l="l" t="t" r="r" b="b"/>
            <a:pathLst>
              <a:path w="10067925" h="125729">
                <a:moveTo>
                  <a:pt x="0" y="0"/>
                </a:moveTo>
                <a:lnTo>
                  <a:pt x="10067756" y="0"/>
                </a:lnTo>
                <a:lnTo>
                  <a:pt x="10067756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068360" y="4316356"/>
            <a:ext cx="9883140" cy="1616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rgbClr val="3689E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F0F0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rgbClr val="3689E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F0F0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rgbClr val="3689E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5" y="11182905"/>
            <a:ext cx="5026025" cy="12565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11182905"/>
            <a:ext cx="10067925" cy="125730"/>
          </a:xfrm>
          <a:custGeom>
            <a:avLst/>
            <a:gdLst/>
            <a:ahLst/>
            <a:cxnLst/>
            <a:rect l="l" t="t" r="r" b="b"/>
            <a:pathLst>
              <a:path w="10067925" h="125729">
                <a:moveTo>
                  <a:pt x="0" y="0"/>
                </a:moveTo>
                <a:lnTo>
                  <a:pt x="10067756" y="0"/>
                </a:lnTo>
                <a:lnTo>
                  <a:pt x="10067756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250" b="0" i="0">
                <a:solidFill>
                  <a:srgbClr val="3689E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0561" y="860309"/>
            <a:ext cx="18362976" cy="1229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250" b="0" i="0">
                <a:solidFill>
                  <a:srgbClr val="3689E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7509" y="4320937"/>
            <a:ext cx="8454390" cy="3952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F0F0F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305,302 Cloud Computing Blue Royalty-Free Images, Stock Photos &amp; Pictures |  Shutte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72"/>
          <a:stretch/>
        </p:blipFill>
        <p:spPr bwMode="auto">
          <a:xfrm>
            <a:off x="1060450" y="1004050"/>
            <a:ext cx="18516600" cy="9296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bject 2"/>
          <p:cNvSpPr txBox="1">
            <a:spLocks/>
          </p:cNvSpPr>
          <p:nvPr/>
        </p:nvSpPr>
        <p:spPr>
          <a:xfrm>
            <a:off x="2889250" y="6157268"/>
            <a:ext cx="7086600" cy="338546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5250" b="0" i="0">
                <a:solidFill>
                  <a:srgbClr val="3689E8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35"/>
              </a:spcBef>
            </a:pPr>
            <a:r>
              <a:rPr lang="en-US" sz="48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Presenters:</a:t>
            </a:r>
            <a:r>
              <a:rPr lang="en-US" sz="4400" b="1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/>
            </a:r>
          </a:p>
          <a:p>
            <a:pPr marL="469900" indent="-457200">
              <a:spcBef>
                <a:spcPts val="135"/>
              </a:spcBef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Ayesha Azeem</a:t>
            </a:r>
          </a:p>
          <a:p>
            <a:pPr marL="469900" indent="-457200">
              <a:spcBef>
                <a:spcPts val="135"/>
              </a:spcBef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Alina Rafi</a:t>
            </a:r>
          </a:p>
          <a:p>
            <a:pPr marL="469900" indent="-457200">
              <a:spcBef>
                <a:spcPts val="135"/>
              </a:spcBef>
              <a:buFont typeface="Wingdings" panose="05000000000000000000" pitchFamily="2" charset="2"/>
              <a:buChar char="v"/>
            </a:pPr>
            <a:r>
              <a:rPr lang="en-US" sz="32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Naeema </a:t>
            </a:r>
            <a:r>
              <a:rPr lang="en-US" sz="3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Hamid</a:t>
            </a:r>
          </a:p>
          <a:p>
            <a:pPr marL="469900" indent="-457200">
              <a:spcBef>
                <a:spcPts val="135"/>
              </a:spcBef>
              <a:buFont typeface="Wingdings" panose="05000000000000000000" pitchFamily="2" charset="2"/>
              <a:buChar char="v"/>
            </a:pPr>
            <a:r>
              <a:rPr lang="en-US" sz="3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Fatima Ahmed</a:t>
            </a:r>
          </a:p>
          <a:p>
            <a:pPr marL="469900" indent="-457200">
              <a:spcBef>
                <a:spcPts val="135"/>
              </a:spcBef>
              <a:buFont typeface="Wingdings" panose="05000000000000000000" pitchFamily="2" charset="2"/>
              <a:buChar char="v"/>
            </a:pPr>
            <a:r>
              <a:rPr lang="en-US" sz="3200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Lubaina </a:t>
            </a:r>
            <a:r>
              <a:rPr lang="en-US" sz="3200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Zafar</a:t>
            </a:r>
            <a:endParaRPr lang="en-US" sz="3200" dirty="0">
              <a:solidFill>
                <a:schemeClr val="accent1">
                  <a:lumMod val="20000"/>
                  <a:lumOff val="8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5" name="object 3"/>
          <p:cNvSpPr txBox="1"/>
          <p:nvPr/>
        </p:nvSpPr>
        <p:spPr>
          <a:xfrm>
            <a:off x="8375650" y="4962318"/>
            <a:ext cx="102108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558290" algn="l"/>
                <a:tab pos="6588125" algn="l"/>
              </a:tabLst>
            </a:pPr>
            <a:r>
              <a:rPr lang="en-US" sz="4400" b="1" spc="35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Intelligent </a:t>
            </a:r>
            <a:r>
              <a:rPr lang="en-US" sz="44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 xml:space="preserve">Solutions </a:t>
            </a:r>
            <a:r>
              <a:rPr lang="en-US" sz="4400" b="1" spc="385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/>
            </a:r>
            <a:r>
              <a:rPr lang="en-US" sz="44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/>
            </a:r>
            <a:r>
              <a:rPr lang="en-US" sz="4400" b="1" spc="325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for </a:t>
            </a:r>
            <a:r>
              <a:rPr lang="en-US" sz="4400" b="1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/>
            </a:r>
            <a:r>
              <a:rPr lang="en-US" sz="4400" b="1" spc="305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/>
            </a:r>
            <a:r>
              <a:rPr lang="en-US" sz="4400" b="1" spc="-1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Modern </a:t>
            </a:r>
            <a:r>
              <a:rPr lang="en-US" sz="44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/>
            </a:r>
            <a:r>
              <a:rPr lang="en-US" sz="4400" b="1" spc="-6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/>
                <a:cs typeface="Calibri"/>
              </a:rPr>
              <a:t>Enterprise</a:t>
            </a:r>
            <a:endParaRPr lang="en-US" sz="4400" b="1" dirty="0">
              <a:solidFill>
                <a:schemeClr val="tx2">
                  <a:lumMod val="40000"/>
                  <a:lumOff val="60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16" name="object 2"/>
          <p:cNvSpPr txBox="1">
            <a:spLocks/>
          </p:cNvSpPr>
          <p:nvPr/>
        </p:nvSpPr>
        <p:spPr>
          <a:xfrm>
            <a:off x="4032250" y="2664917"/>
            <a:ext cx="17068800" cy="194091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>
            <a:lvl1pPr>
              <a:defRPr sz="5250" b="0" i="0">
                <a:solidFill>
                  <a:srgbClr val="3689E8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 algn="ctr">
              <a:spcBef>
                <a:spcPts val="135"/>
              </a:spcBef>
            </a:pPr>
            <a:r>
              <a:rPr lang="en-US" sz="12500" b="1" spc="385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Google Cloud </a:t>
            </a:r>
            <a:r>
              <a:rPr lang="en-US" sz="12500" b="1" spc="-575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AI </a:t>
            </a:r>
            <a:r>
              <a:rPr lang="en-US" sz="12500" b="1" spc="335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>Capabilities</a:t>
            </a:r>
            <a:r>
              <a:rPr lang="en-US" sz="12500" b="1" spc="-70" dirty="0" smtClean="0">
                <a:solidFill>
                  <a:schemeClr val="accent5">
                    <a:lumMod val="20000"/>
                    <a:lumOff val="80000"/>
                  </a:schemeClr>
                </a:solidFill>
                <a:latin typeface="Calibri"/>
                <a:cs typeface="Calibri"/>
              </a:rPr>
              <a:t/>
            </a:r>
            <a:endParaRPr lang="en-US" sz="12500" b="1" dirty="0">
              <a:solidFill>
                <a:schemeClr val="accent5">
                  <a:lumMod val="20000"/>
                  <a:lumOff val="80000"/>
                </a:schemeClr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5" y="11182905"/>
            <a:ext cx="5026025" cy="12565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1182905"/>
            <a:ext cx="10067925" cy="125730"/>
          </a:xfrm>
          <a:custGeom>
            <a:avLst/>
            <a:gdLst/>
            <a:ahLst/>
            <a:cxnLst/>
            <a:rect l="l" t="t" r="r" b="b"/>
            <a:pathLst>
              <a:path w="10067925" h="125729">
                <a:moveTo>
                  <a:pt x="0" y="0"/>
                </a:moveTo>
                <a:lnTo>
                  <a:pt x="10067756" y="0"/>
                </a:lnTo>
                <a:lnTo>
                  <a:pt x="10067756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98743" y="1771584"/>
            <a:ext cx="18362976" cy="1022603"/>
          </a:xfrm>
          <a:prstGeom prst="rect">
            <a:avLst/>
          </a:prstGeom>
        </p:spPr>
        <p:txBody>
          <a:bodyPr vert="horz" wrap="square" lIns="0" tIns="98313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30"/>
              </a:spcBef>
            </a:pPr>
            <a:r>
              <a:rPr sz="6000" b="1" spc="300" dirty="0">
                <a:solidFill>
                  <a:srgbClr val="4285EF"/>
                </a:solidFill>
              </a:rPr>
              <a:t>Cloud </a:t>
            </a:r>
            <a:r>
              <a:rPr sz="6000" b="1" spc="-135" dirty="0">
                <a:solidFill>
                  <a:srgbClr val="4285EF"/>
                </a:solidFill>
              </a:rPr>
              <a:t/>
            </a:r>
            <a:r>
              <a:rPr sz="6000" b="1" dirty="0">
                <a:solidFill>
                  <a:srgbClr val="4285F4"/>
                </a:solidFill>
              </a:rPr>
              <a:t>AI: </a:t>
            </a:r>
            <a:r>
              <a:rPr sz="6000" b="1" spc="-484" dirty="0">
                <a:solidFill>
                  <a:srgbClr val="4285F4"/>
                </a:solidFill>
              </a:rPr>
              <a:t/>
            </a:r>
            <a:r>
              <a:rPr sz="6000" b="1" spc="75" dirty="0">
                <a:solidFill>
                  <a:srgbClr val="3B8AEB"/>
                </a:solidFill>
              </a:rPr>
              <a:t>Foundations and </a:t>
            </a:r>
            <a:r>
              <a:rPr sz="6000" b="1" spc="-240" dirty="0">
                <a:solidFill>
                  <a:srgbClr val="3B8AEB"/>
                </a:solidFill>
              </a:rPr>
              <a:t/>
            </a:r>
            <a:r>
              <a:rPr sz="6000" b="1" spc="-25" dirty="0">
                <a:solidFill>
                  <a:srgbClr val="4D7EF7"/>
                </a:solidFill>
              </a:rPr>
              <a:t>Value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46518" y="3983835"/>
            <a:ext cx="7943850" cy="104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08000"/>
              </a:lnSpc>
              <a:spcBef>
                <a:spcPts val="100"/>
              </a:spcBef>
              <a:tabLst>
                <a:tab pos="723900" algn="l"/>
              </a:tabLst>
            </a:pPr>
            <a:r>
              <a:rPr sz="3100" b="1" spc="9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/>
            </a:r>
            <a:r>
              <a:rPr sz="3100" b="1" spc="9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/>
            </a:r>
            <a:r>
              <a:rPr sz="3100" b="1" spc="-6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Artificial </a:t>
            </a:r>
            <a:r>
              <a:rPr sz="3100" dirty="0">
                <a:solidFill>
                  <a:srgbClr val="131313"/>
                </a:solidFill>
                <a:latin typeface="Arial MT"/>
                <a:cs typeface="Arial MT"/>
              </a:rPr>
              <a:t>Intelligence: </a:t>
            </a:r>
            <a:r>
              <a:rPr sz="3100" spc="285" dirty="0">
                <a:solidFill>
                  <a:srgbClr val="131313"/>
                </a:solidFill>
                <a:latin typeface="Arial MT"/>
                <a:cs typeface="Arial MT"/>
              </a:rPr>
              <a:t/>
            </a:r>
            <a:r>
              <a:rPr sz="3100" dirty="0">
                <a:solidFill>
                  <a:srgbClr val="161616"/>
                </a:solidFill>
                <a:latin typeface="Arial MT"/>
                <a:cs typeface="Arial MT"/>
              </a:rPr>
              <a:t>Systems </a:t>
            </a:r>
            <a:r>
              <a:rPr sz="3100" spc="200" dirty="0">
                <a:solidFill>
                  <a:srgbClr val="161616"/>
                </a:solidFill>
                <a:latin typeface="Arial MT"/>
                <a:cs typeface="Arial MT"/>
              </a:rPr>
              <a:t/>
            </a:r>
            <a:r>
              <a:rPr sz="3100" dirty="0">
                <a:solidFill>
                  <a:srgbClr val="111111"/>
                </a:solidFill>
                <a:latin typeface="Arial MT"/>
                <a:cs typeface="Arial MT"/>
              </a:rPr>
              <a:t>emulating </a:t>
            </a:r>
            <a:r>
              <a:rPr sz="3100" spc="150" dirty="0">
                <a:solidFill>
                  <a:srgbClr val="111111"/>
                </a:solidFill>
                <a:latin typeface="Arial MT"/>
                <a:cs typeface="Arial MT"/>
              </a:rPr>
              <a:t/>
            </a:r>
            <a:r>
              <a:rPr sz="3100" dirty="0">
                <a:solidFill>
                  <a:srgbClr val="151515"/>
                </a:solidFill>
                <a:latin typeface="Arial MT"/>
                <a:cs typeface="Arial MT"/>
              </a:rPr>
              <a:t>cognitive </a:t>
            </a:r>
            <a:r>
              <a:rPr sz="3100" spc="400" dirty="0">
                <a:solidFill>
                  <a:srgbClr val="151515"/>
                </a:solidFill>
                <a:latin typeface="Arial MT"/>
                <a:cs typeface="Arial MT"/>
              </a:rPr>
              <a:t/>
            </a:r>
            <a:r>
              <a:rPr lang="en-US" sz="3100" spc="400" dirty="0" smtClean="0">
                <a:solidFill>
                  <a:srgbClr val="151515"/>
                </a:solidFill>
                <a:latin typeface="Arial MT"/>
                <a:cs typeface="Arial MT"/>
              </a:rPr>
              <a:t/>
            </a:r>
            <a:r>
              <a:rPr sz="3100" spc="-10" dirty="0" smtClean="0">
                <a:solidFill>
                  <a:srgbClr val="181818"/>
                </a:solidFill>
                <a:latin typeface="Arial MT"/>
                <a:cs typeface="Arial MT"/>
              </a:rPr>
              <a:t>functions </a:t>
            </a:r>
            <a:r>
              <a:rPr sz="3100" dirty="0">
                <a:solidFill>
                  <a:srgbClr val="0F0F0F"/>
                </a:solidFill>
                <a:latin typeface="Arial MT"/>
                <a:cs typeface="Arial MT"/>
              </a:rPr>
              <a:t>to </a:t>
            </a:r>
            <a:r>
              <a:rPr sz="3100" spc="114" dirty="0">
                <a:solidFill>
                  <a:srgbClr val="0F0F0F"/>
                </a:solidFill>
                <a:latin typeface="Arial MT"/>
                <a:cs typeface="Arial MT"/>
              </a:rPr>
              <a:t/>
            </a:r>
            <a:r>
              <a:rPr sz="3100" dirty="0">
                <a:solidFill>
                  <a:srgbClr val="0F0F0F"/>
                </a:solidFill>
                <a:latin typeface="Arial MT"/>
                <a:cs typeface="Arial MT"/>
              </a:rPr>
              <a:t>resolve </a:t>
            </a:r>
            <a:r>
              <a:rPr sz="3100" spc="65" dirty="0">
                <a:solidFill>
                  <a:srgbClr val="0F0F0F"/>
                </a:solidFill>
                <a:latin typeface="Arial MT"/>
                <a:cs typeface="Arial MT"/>
              </a:rPr>
              <a:t/>
            </a:r>
            <a:r>
              <a:rPr sz="3100" dirty="0">
                <a:solidFill>
                  <a:srgbClr val="181818"/>
                </a:solidFill>
                <a:latin typeface="Arial MT"/>
                <a:cs typeface="Arial MT"/>
              </a:rPr>
              <a:t>complex </a:t>
            </a:r>
            <a:r>
              <a:rPr sz="3100" spc="280" dirty="0">
                <a:solidFill>
                  <a:srgbClr val="181818"/>
                </a:solidFill>
                <a:latin typeface="Arial MT"/>
                <a:cs typeface="Arial MT"/>
              </a:rPr>
              <a:t/>
            </a:r>
            <a:r>
              <a:rPr sz="3100" dirty="0">
                <a:solidFill>
                  <a:srgbClr val="0C0C0C"/>
                </a:solidFill>
                <a:latin typeface="Arial MT"/>
                <a:cs typeface="Arial MT"/>
              </a:rPr>
              <a:t>enterprise </a:t>
            </a:r>
            <a:r>
              <a:rPr sz="3100" spc="55" dirty="0">
                <a:solidFill>
                  <a:srgbClr val="0C0C0C"/>
                </a:solidFill>
                <a:latin typeface="Arial MT"/>
                <a:cs typeface="Arial MT"/>
              </a:rPr>
              <a:t/>
            </a:r>
            <a:r>
              <a:rPr sz="3100" spc="-10" dirty="0">
                <a:solidFill>
                  <a:srgbClr val="111111"/>
                </a:solidFill>
                <a:latin typeface="Arial MT"/>
                <a:cs typeface="Arial MT"/>
              </a:rPr>
              <a:t>challenges.</a:t>
            </a:r>
            <a:endParaRPr sz="31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5654" y="5354144"/>
            <a:ext cx="8624570" cy="10758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>
              <a:lnSpc>
                <a:spcPct val="107900"/>
              </a:lnSpc>
              <a:spcBef>
                <a:spcPts val="95"/>
              </a:spcBef>
              <a:tabLst>
                <a:tab pos="739775" algn="l"/>
              </a:tabLst>
            </a:pPr>
            <a:r>
              <a:rPr sz="3200" b="1" spc="-4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Cloud </a:t>
            </a:r>
            <a:r>
              <a:rPr sz="3200" b="1" spc="-185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/>
            </a:r>
            <a:r>
              <a:rPr sz="32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Infrastructure: </a:t>
            </a:r>
            <a:r>
              <a:rPr sz="3200" b="1" dirty="0">
                <a:solidFill>
                  <a:srgbClr val="050505"/>
                </a:solidFill>
                <a:latin typeface="Arial MT"/>
                <a:cs typeface="Arial MT"/>
              </a:rPr>
              <a:t/>
            </a:r>
            <a:r>
              <a:rPr sz="3200" b="1" spc="-210" dirty="0">
                <a:solidFill>
                  <a:srgbClr val="050505"/>
                </a:solidFill>
                <a:latin typeface="Arial MT"/>
                <a:cs typeface="Arial MT"/>
              </a:rPr>
              <a:t/>
            </a:r>
            <a:r>
              <a:rPr sz="3200" dirty="0">
                <a:solidFill>
                  <a:srgbClr val="131313"/>
                </a:solidFill>
                <a:latin typeface="Arial MT"/>
                <a:cs typeface="Arial MT"/>
              </a:rPr>
              <a:t>High-performance, </a:t>
            </a:r>
            <a:r>
              <a:rPr sz="3200" spc="-5" dirty="0">
                <a:solidFill>
                  <a:srgbClr val="131313"/>
                </a:solidFill>
                <a:latin typeface="Arial MT"/>
                <a:cs typeface="Arial MT"/>
              </a:rPr>
              <a:t>scalable </a:t>
            </a:r>
            <a:r>
              <a:rPr sz="3200" dirty="0">
                <a:solidFill>
                  <a:srgbClr val="151515"/>
                </a:solidFill>
                <a:latin typeface="Arial MT"/>
                <a:cs typeface="Arial MT"/>
              </a:rPr>
              <a:t>computing </a:t>
            </a:r>
            <a:r>
              <a:rPr sz="3200" spc="95" dirty="0">
                <a:solidFill>
                  <a:srgbClr val="151515"/>
                </a:solidFill>
                <a:latin typeface="Arial MT"/>
                <a:cs typeface="Arial MT"/>
              </a:rPr>
              <a:t/>
            </a:r>
            <a:r>
              <a:rPr sz="4800" spc="-44" baseline="4340" dirty="0">
                <a:solidFill>
                  <a:srgbClr val="111111"/>
                </a:solidFill>
                <a:latin typeface="Arial MT"/>
                <a:cs typeface="Arial MT"/>
              </a:rPr>
              <a:t>resources </a:t>
            </a:r>
            <a:r>
              <a:rPr sz="4800" spc="104" baseline="4340" dirty="0">
                <a:solidFill>
                  <a:srgbClr val="111111"/>
                </a:solidFill>
                <a:latin typeface="Arial MT"/>
                <a:cs typeface="Arial MT"/>
              </a:rPr>
              <a:t/>
            </a:r>
            <a:r>
              <a:rPr sz="4800" baseline="4340" dirty="0">
                <a:solidFill>
                  <a:srgbClr val="111111"/>
                </a:solidFill>
                <a:latin typeface="Arial MT"/>
                <a:cs typeface="Arial MT"/>
              </a:rPr>
              <a:t/>
            </a:r>
            <a:r>
              <a:rPr sz="4800" spc="-157" baseline="4340" dirty="0">
                <a:solidFill>
                  <a:srgbClr val="111111"/>
                </a:solidFill>
                <a:latin typeface="Arial MT"/>
                <a:cs typeface="Arial MT"/>
              </a:rPr>
              <a:t/>
            </a:r>
            <a:r>
              <a:rPr sz="4800" spc="-37" baseline="4340" dirty="0">
                <a:solidFill>
                  <a:srgbClr val="131313"/>
                </a:solidFill>
                <a:latin typeface="Arial MT"/>
                <a:cs typeface="Arial MT"/>
              </a:rPr>
              <a:t>delivered through </a:t>
            </a:r>
            <a:r>
              <a:rPr sz="3200" dirty="0">
                <a:solidFill>
                  <a:srgbClr val="161616"/>
                </a:solidFill>
                <a:latin typeface="Arial MT"/>
                <a:cs typeface="Arial MT"/>
              </a:rPr>
              <a:t/>
            </a:r>
            <a:r>
              <a:rPr sz="3200" spc="-70" dirty="0">
                <a:solidFill>
                  <a:srgbClr val="161616"/>
                </a:solidFill>
                <a:latin typeface="Arial MT"/>
                <a:cs typeface="Arial MT"/>
              </a:rPr>
              <a:t>secure, </a:t>
            </a:r>
            <a:r>
              <a:rPr sz="3200" dirty="0">
                <a:solidFill>
                  <a:srgbClr val="151515"/>
                </a:solidFill>
                <a:latin typeface="Arial MT"/>
                <a:cs typeface="Arial MT"/>
              </a:rPr>
              <a:t/>
            </a:r>
            <a:r>
              <a:rPr sz="3200" spc="-145" dirty="0">
                <a:solidFill>
                  <a:srgbClr val="151515"/>
                </a:solidFill>
                <a:latin typeface="Arial MT"/>
                <a:cs typeface="Arial MT"/>
              </a:rPr>
              <a:t/>
            </a:r>
            <a:r>
              <a:rPr sz="3200" spc="-10" dirty="0">
                <a:solidFill>
                  <a:srgbClr val="111111"/>
                </a:solidFill>
                <a:latin typeface="Arial MT"/>
                <a:cs typeface="Arial MT"/>
              </a:rPr>
              <a:t>global networks.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7382" y="7141843"/>
            <a:ext cx="6962140" cy="16013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 marR="5080" indent="-6985">
              <a:lnSpc>
                <a:spcPct val="111400"/>
              </a:lnSpc>
              <a:spcBef>
                <a:spcPts val="100"/>
              </a:spcBef>
            </a:pPr>
            <a:r>
              <a:rPr sz="3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Strategic </a:t>
            </a:r>
            <a:r>
              <a:rPr sz="3100" b="1" spc="-3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/>
            </a:r>
            <a:r>
              <a:rPr sz="3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/>
            </a:r>
            <a:r>
              <a:rPr sz="3100" b="1" spc="-2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/>
            </a:r>
            <a:r>
              <a:rPr sz="31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Advantage: </a:t>
            </a:r>
            <a:r>
              <a:rPr sz="3100" b="1" spc="31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/>
            </a:r>
            <a:r>
              <a:rPr sz="3100" dirty="0">
                <a:solidFill>
                  <a:srgbClr val="1A1A1A"/>
                </a:solidFill>
                <a:latin typeface="Arial MT"/>
                <a:cs typeface="Arial MT"/>
              </a:rPr>
              <a:t>Accelerate </a:t>
            </a:r>
            <a:r>
              <a:rPr sz="3100" spc="235" dirty="0">
                <a:solidFill>
                  <a:srgbClr val="1A1A1A"/>
                </a:solidFill>
                <a:latin typeface="Arial MT"/>
                <a:cs typeface="Arial MT"/>
              </a:rPr>
              <a:t/>
            </a:r>
            <a:r>
              <a:rPr sz="3100" dirty="0">
                <a:solidFill>
                  <a:srgbClr val="111111"/>
                </a:solidFill>
                <a:latin typeface="Arial MT"/>
                <a:cs typeface="Arial MT"/>
              </a:rPr>
              <a:t>intelligent </a:t>
            </a:r>
            <a:r>
              <a:rPr sz="3100" spc="165" dirty="0">
                <a:solidFill>
                  <a:srgbClr val="111111"/>
                </a:solidFill>
                <a:latin typeface="Arial MT"/>
                <a:cs typeface="Arial MT"/>
              </a:rPr>
              <a:t/>
            </a:r>
            <a:r>
              <a:rPr sz="3100" dirty="0">
                <a:solidFill>
                  <a:srgbClr val="131313"/>
                </a:solidFill>
                <a:latin typeface="Arial MT"/>
                <a:cs typeface="Arial MT"/>
              </a:rPr>
              <a:t>feature </a:t>
            </a:r>
            <a:r>
              <a:rPr sz="3100" spc="204" dirty="0">
                <a:solidFill>
                  <a:srgbClr val="131313"/>
                </a:solidFill>
                <a:latin typeface="Arial MT"/>
                <a:cs typeface="Arial MT"/>
              </a:rPr>
              <a:t/>
            </a:r>
            <a:r>
              <a:rPr sz="3100" spc="60" dirty="0">
                <a:solidFill>
                  <a:srgbClr val="1A1A1A"/>
                </a:solidFill>
                <a:latin typeface="Arial MT"/>
                <a:cs typeface="Arial MT"/>
              </a:rPr>
              <a:t>deployment </a:t>
            </a:r>
            <a:r>
              <a:rPr sz="3100" spc="-20" dirty="0">
                <a:solidFill>
                  <a:srgbClr val="111111"/>
                </a:solidFill>
                <a:latin typeface="Arial MT"/>
                <a:cs typeface="Arial MT"/>
              </a:rPr>
              <a:t>while </a:t>
            </a:r>
            <a:r>
              <a:rPr sz="3100" dirty="0">
                <a:solidFill>
                  <a:srgbClr val="111111"/>
                </a:solidFill>
                <a:latin typeface="Arial MT"/>
                <a:cs typeface="Arial MT"/>
              </a:rPr>
              <a:t>minimizing </a:t>
            </a:r>
            <a:r>
              <a:rPr sz="3100" spc="380" dirty="0">
                <a:solidFill>
                  <a:srgbClr val="111111"/>
                </a:solidFill>
                <a:latin typeface="Arial MT"/>
                <a:cs typeface="Arial MT"/>
              </a:rPr>
              <a:t/>
            </a:r>
            <a:r>
              <a:rPr sz="3100" dirty="0">
                <a:solidFill>
                  <a:srgbClr val="131313"/>
                </a:solidFill>
                <a:latin typeface="Arial MT"/>
                <a:cs typeface="Arial MT"/>
              </a:rPr>
              <a:t>capital </a:t>
            </a:r>
            <a:r>
              <a:rPr sz="3100" spc="365" dirty="0">
                <a:solidFill>
                  <a:srgbClr val="131313"/>
                </a:solidFill>
                <a:latin typeface="Arial MT"/>
                <a:cs typeface="Arial MT"/>
              </a:rPr>
              <a:t>expenditure </a:t>
            </a:r>
            <a:r>
              <a:rPr sz="3100" dirty="0">
                <a:solidFill>
                  <a:srgbClr val="0F0F0F"/>
                </a:solidFill>
                <a:latin typeface="Arial MT"/>
                <a:cs typeface="Arial MT"/>
              </a:rPr>
              <a:t>on </a:t>
            </a:r>
            <a:r>
              <a:rPr sz="3100" spc="365" dirty="0">
                <a:solidFill>
                  <a:srgbClr val="0F0F0F"/>
                </a:solidFill>
                <a:latin typeface="Arial MT"/>
                <a:cs typeface="Arial MT"/>
              </a:rPr>
              <a:t/>
            </a:r>
            <a:r>
              <a:rPr sz="3100" spc="-10" dirty="0">
                <a:solidFill>
                  <a:srgbClr val="111111"/>
                </a:solidFill>
                <a:latin typeface="Arial MT"/>
                <a:cs typeface="Arial MT"/>
              </a:rPr>
              <a:t>specialized hardware.</a:t>
            </a:r>
            <a:endParaRPr sz="3100" dirty="0">
              <a:latin typeface="Arial MT"/>
              <a:cs typeface="Arial MT"/>
            </a:endParaRPr>
          </a:p>
        </p:txBody>
      </p:sp>
      <p:pic>
        <p:nvPicPr>
          <p:cNvPr id="3074" name="Picture 2" descr="Aws Images - Free Download on Magnific (formerly Freepik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4450" y="2191770"/>
            <a:ext cx="8458200" cy="7188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5" y="11182905"/>
            <a:ext cx="5026025" cy="12565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80087" y="3550681"/>
            <a:ext cx="6823671" cy="538630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11182905"/>
            <a:ext cx="10067925" cy="125730"/>
          </a:xfrm>
          <a:custGeom>
            <a:avLst/>
            <a:gdLst/>
            <a:ahLst/>
            <a:cxnLst/>
            <a:rect l="l" t="t" r="r" b="b"/>
            <a:pathLst>
              <a:path w="10067925" h="125729">
                <a:moveTo>
                  <a:pt x="0" y="0"/>
                </a:moveTo>
                <a:lnTo>
                  <a:pt x="10067756" y="0"/>
                </a:lnTo>
                <a:lnTo>
                  <a:pt x="10067756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r>
              <a:t>Industry Impact: Accelerate large-scale model training by 3x via Cloud TPU infrastructure to drive breakthroughs in genomics and real-time fraud detection.</a:t>
            </a:r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86437" y="1501643"/>
            <a:ext cx="18362976" cy="919115"/>
          </a:xfrm>
          <a:prstGeom prst="rect">
            <a:avLst/>
          </a:prstGeom>
        </p:spPr>
        <p:txBody>
          <a:bodyPr vert="horz" wrap="square" lIns="0" tIns="87266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110"/>
              </a:spcBef>
            </a:pPr>
            <a:r>
              <a:rPr sz="5400" b="1" dirty="0" smtClean="0">
                <a:solidFill>
                  <a:srgbClr val="4682F7"/>
                </a:solidFill>
              </a:rPr>
              <a:t>Cloud </a:t>
            </a:r>
            <a:r>
              <a:rPr sz="5400" b="1" spc="-445" dirty="0" smtClean="0">
                <a:solidFill>
                  <a:srgbClr val="4682F7"/>
                </a:solidFill>
              </a:rPr>
              <a:t/>
            </a:r>
            <a:r>
              <a:rPr sz="5400" b="1" spc="-10" dirty="0">
                <a:solidFill>
                  <a:srgbClr val="4285F0"/>
                </a:solidFill>
              </a:rPr>
              <a:t>TPU: </a:t>
            </a:r>
            <a:r>
              <a:rPr sz="5400" b="1" spc="-545" dirty="0">
                <a:solidFill>
                  <a:srgbClr val="4285F0"/>
                </a:solidFill>
              </a:rPr>
              <a:t/>
            </a:r>
            <a:r>
              <a:rPr lang="en-US" sz="5400" b="1" dirty="0"/>
              <a:t>High-Performance AI Infrastructure</a:t>
            </a:r>
            <a:endParaRPr sz="5400" b="1" dirty="0"/>
          </a:p>
        </p:txBody>
      </p:sp>
      <p:sp>
        <p:nvSpPr>
          <p:cNvPr id="6" name="object 6"/>
          <p:cNvSpPr txBox="1"/>
          <p:nvPr/>
        </p:nvSpPr>
        <p:spPr>
          <a:xfrm>
            <a:off x="8147050" y="4206875"/>
            <a:ext cx="11277600" cy="4073922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737870" marR="1387475" indent="-725805">
              <a:lnSpc>
                <a:spcPct val="101499"/>
              </a:lnSpc>
              <a:spcBef>
                <a:spcPts val="40"/>
              </a:spcBef>
              <a:buFont typeface="Wingdings" panose="05000000000000000000" pitchFamily="2" charset="2"/>
              <a:buChar char="Ø"/>
              <a:tabLst>
                <a:tab pos="736600" algn="l"/>
              </a:tabLst>
            </a:pPr>
            <a:r>
              <a:rPr sz="3350" spc="-105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Custom </a:t>
            </a:r>
            <a:r>
              <a:rPr sz="3350" spc="-14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/>
            </a:r>
            <a:r>
              <a:rPr sz="3350" spc="-8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Silicon: </a:t>
            </a:r>
            <a:r>
              <a:rPr sz="3350" spc="-145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Leverage </a:t>
            </a:r>
            <a:r>
              <a:rPr sz="3350" spc="-65" dirty="0">
                <a:solidFill>
                  <a:srgbClr val="131313"/>
                </a:solidFill>
                <a:latin typeface="Arial MT"/>
                <a:cs typeface="Arial MT"/>
              </a:rPr>
              <a:t>Google-engineered </a:t>
            </a:r>
            <a:r>
              <a:rPr sz="3350" dirty="0">
                <a:solidFill>
                  <a:srgbClr val="131313"/>
                </a:solidFill>
                <a:latin typeface="Arial MT"/>
                <a:cs typeface="Arial MT"/>
              </a:rPr>
              <a:t/>
            </a:r>
            <a:r>
              <a:rPr sz="3350" spc="130" dirty="0">
                <a:solidFill>
                  <a:srgbClr val="131313"/>
                </a:solidFill>
                <a:latin typeface="Arial MT"/>
                <a:cs typeface="Arial MT"/>
              </a:rPr>
              <a:t>hardware </a:t>
            </a:r>
            <a:r>
              <a:rPr sz="3350" spc="-95" dirty="0">
                <a:solidFill>
                  <a:srgbClr val="151515"/>
                </a:solidFill>
                <a:latin typeface="Arial MT"/>
                <a:cs typeface="Arial MT"/>
              </a:rPr>
              <a:t>optimized </a:t>
            </a:r>
            <a:r>
              <a:rPr sz="3350" spc="-95" dirty="0">
                <a:solidFill>
                  <a:srgbClr val="0F0F0F"/>
                </a:solidFill>
                <a:latin typeface="Arial MT"/>
                <a:cs typeface="Arial MT"/>
              </a:rPr>
              <a:t>for high-intensity </a:t>
            </a:r>
            <a:r>
              <a:rPr sz="3350" spc="-35" dirty="0">
                <a:solidFill>
                  <a:srgbClr val="0F0F0F"/>
                </a:solidFill>
                <a:latin typeface="Arial MT"/>
                <a:cs typeface="Arial MT"/>
              </a:rPr>
              <a:t/>
            </a:r>
            <a:r>
              <a:rPr sz="3350" dirty="0">
                <a:solidFill>
                  <a:srgbClr val="131313"/>
                </a:solidFill>
                <a:latin typeface="Arial MT"/>
                <a:cs typeface="Arial MT"/>
              </a:rPr>
              <a:t>machine </a:t>
            </a:r>
            <a:r>
              <a:rPr sz="3350" spc="-150" dirty="0">
                <a:solidFill>
                  <a:srgbClr val="131313"/>
                </a:solidFill>
                <a:latin typeface="Arial MT"/>
                <a:cs typeface="Arial MT"/>
              </a:rPr>
              <a:t/>
            </a:r>
            <a:r>
              <a:rPr sz="3350" dirty="0">
                <a:solidFill>
                  <a:srgbClr val="161616"/>
                </a:solidFill>
                <a:latin typeface="Arial MT"/>
                <a:cs typeface="Arial MT"/>
              </a:rPr>
              <a:t>learning </a:t>
            </a:r>
            <a:r>
              <a:rPr sz="3350" spc="-204" dirty="0">
                <a:solidFill>
                  <a:srgbClr val="161616"/>
                </a:solidFill>
                <a:latin typeface="Arial MT"/>
                <a:cs typeface="Arial MT"/>
              </a:rPr>
              <a:t/>
            </a:r>
            <a:r>
              <a:rPr sz="3350" spc="-20" dirty="0">
                <a:solidFill>
                  <a:srgbClr val="161616"/>
                </a:solidFill>
                <a:latin typeface="Arial MT"/>
                <a:cs typeface="Arial MT"/>
              </a:rPr>
              <a:t>workloads.</a:t>
            </a:r>
            <a:endParaRPr sz="3350" dirty="0">
              <a:latin typeface="Arial MT"/>
              <a:cs typeface="Arial MT"/>
            </a:endParaRPr>
          </a:p>
          <a:p>
            <a:pPr marL="735330" marR="495300" indent="-721995">
              <a:lnSpc>
                <a:spcPct val="107900"/>
              </a:lnSpc>
              <a:spcBef>
                <a:spcPts val="3120"/>
              </a:spcBef>
              <a:buFont typeface="Wingdings" panose="05000000000000000000" pitchFamily="2" charset="2"/>
              <a:buChar char="Ø"/>
              <a:tabLst>
                <a:tab pos="731520" algn="l"/>
              </a:tabLst>
            </a:pPr>
            <a:r>
              <a:rPr sz="320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Accelerated </a:t>
            </a:r>
            <a:r>
              <a:rPr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/>
            </a:r>
            <a:r>
              <a:rPr sz="3200" spc="-13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/>
            </a:r>
            <a:r>
              <a:rPr sz="3200" spc="-25" dirty="0">
                <a:solidFill>
                  <a:srgbClr val="0C0C0C"/>
                </a:solidFill>
                <a:latin typeface="Arial MT"/>
                <a:cs typeface="Arial MT"/>
              </a:rPr>
              <a:t>Training: Utilize </a:t>
            </a:r>
            <a:r>
              <a:rPr sz="3200" spc="210" dirty="0">
                <a:solidFill>
                  <a:srgbClr val="0C0C0C"/>
                </a:solidFill>
                <a:latin typeface="Arial MT"/>
                <a:cs typeface="Arial MT"/>
              </a:rPr>
              <a:t/>
            </a:r>
            <a:r>
              <a:rPr sz="3200" dirty="0">
                <a:solidFill>
                  <a:srgbClr val="161616"/>
                </a:solidFill>
                <a:latin typeface="Arial MT"/>
                <a:cs typeface="Arial MT"/>
              </a:rPr>
              <a:t>purpose-built architecture to </a:t>
            </a:r>
            <a:r>
              <a:rPr sz="3200" spc="80" dirty="0">
                <a:solidFill>
                  <a:srgbClr val="161616"/>
                </a:solidFill>
                <a:latin typeface="Arial MT"/>
                <a:cs typeface="Arial MT"/>
              </a:rPr>
              <a:t/>
            </a:r>
            <a:r>
              <a:rPr sz="3200" spc="50" dirty="0">
                <a:solidFill>
                  <a:srgbClr val="181818"/>
                </a:solidFill>
                <a:latin typeface="Arial MT"/>
                <a:cs typeface="Arial MT"/>
              </a:rPr>
              <a:t/>
            </a:r>
            <a:r>
              <a:rPr sz="3200" spc="-165" dirty="0">
                <a:solidFill>
                  <a:srgbClr val="181818"/>
                </a:solidFill>
                <a:latin typeface="Arial MT"/>
                <a:cs typeface="Arial MT"/>
              </a:rPr>
              <a:t>execute </a:t>
            </a:r>
            <a:r>
              <a:rPr sz="3200" dirty="0">
                <a:solidFill>
                  <a:srgbClr val="0E0E0E"/>
                </a:solidFill>
                <a:latin typeface="Arial MT"/>
                <a:cs typeface="Arial MT"/>
              </a:rPr>
              <a:t/>
            </a:r>
            <a:r>
              <a:rPr sz="3200" spc="-90" dirty="0">
                <a:solidFill>
                  <a:srgbClr val="0E0E0E"/>
                </a:solidFill>
                <a:latin typeface="Arial MT"/>
                <a:cs typeface="Arial MT"/>
              </a:rPr>
              <a:t>massive </a:t>
            </a:r>
            <a:r>
              <a:rPr sz="3200" spc="-25" dirty="0">
                <a:solidFill>
                  <a:srgbClr val="131313"/>
                </a:solidFill>
                <a:latin typeface="Arial MT"/>
                <a:cs typeface="Arial MT"/>
              </a:rPr>
              <a:t/>
            </a:r>
            <a:r>
              <a:rPr sz="3200" dirty="0">
                <a:solidFill>
                  <a:srgbClr val="1D1D1D"/>
                </a:solidFill>
                <a:latin typeface="Arial MT"/>
                <a:cs typeface="Arial MT"/>
              </a:rPr>
              <a:t>neural </a:t>
            </a:r>
            <a:r>
              <a:rPr sz="3200" spc="-225" dirty="0">
                <a:solidFill>
                  <a:srgbClr val="1D1D1D"/>
                </a:solidFill>
                <a:latin typeface="Arial MT"/>
                <a:cs typeface="Arial MT"/>
              </a:rPr>
              <a:t>networks </a:t>
            </a:r>
            <a:r>
              <a:rPr sz="3200" spc="-10" dirty="0">
                <a:solidFill>
                  <a:srgbClr val="0E0E0E"/>
                </a:solidFill>
                <a:latin typeface="Arial MT"/>
                <a:cs typeface="Arial MT"/>
              </a:rPr>
              <a:t>with </a:t>
            </a:r>
            <a:r>
              <a:rPr sz="3200" spc="-55" dirty="0">
                <a:solidFill>
                  <a:srgbClr val="0E0E0E"/>
                </a:solidFill>
                <a:latin typeface="Arial MT"/>
                <a:cs typeface="Arial MT"/>
              </a:rPr>
              <a:t/>
            </a:r>
            <a:r>
              <a:rPr sz="3200" spc="-100" dirty="0">
                <a:solidFill>
                  <a:srgbClr val="161616"/>
                </a:solidFill>
                <a:latin typeface="Arial MT"/>
                <a:cs typeface="Arial MT"/>
              </a:rPr>
              <a:t/>
            </a:r>
            <a:r>
              <a:rPr sz="3200" spc="-120" dirty="0">
                <a:solidFill>
                  <a:srgbClr val="161616"/>
                </a:solidFill>
                <a:latin typeface="Arial MT"/>
                <a:cs typeface="Arial MT"/>
              </a:rPr>
              <a:t>peak </a:t>
            </a:r>
            <a:r>
              <a:rPr sz="3200" spc="-10" dirty="0">
                <a:solidFill>
                  <a:srgbClr val="131313"/>
                </a:solidFill>
                <a:latin typeface="Arial MT"/>
                <a:cs typeface="Arial MT"/>
              </a:rPr>
              <a:t>performance.</a:t>
            </a:r>
            <a:endParaRPr sz="3200" dirty="0">
              <a:latin typeface="Arial MT"/>
              <a:cs typeface="Arial MT"/>
            </a:endParaRPr>
          </a:p>
          <a:p>
            <a:pPr marL="738505" marR="5080" indent="-726440">
              <a:lnSpc>
                <a:spcPct val="104600"/>
              </a:lnSpc>
              <a:spcBef>
                <a:spcPts val="3060"/>
              </a:spcBef>
              <a:buFont typeface="Wingdings" panose="05000000000000000000" pitchFamily="2" charset="2"/>
              <a:buChar char="Ø"/>
              <a:tabLst>
                <a:tab pos="732155" algn="l"/>
              </a:tabLst>
            </a:pPr>
            <a:r>
              <a:rPr sz="3350" spc="-25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Operational Efficiency: </a:t>
            </a:r>
            <a:r>
              <a:rPr sz="3350" spc="-25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>Reduce </a:t>
            </a:r>
            <a:r>
              <a:rPr sz="3350" spc="-150" dirty="0">
                <a:solidFill>
                  <a:schemeClr val="tx2">
                    <a:lumMod val="60000"/>
                    <a:lumOff val="40000"/>
                  </a:schemeClr>
                </a:solidFill>
                <a:latin typeface="Arial MT"/>
                <a:cs typeface="Arial MT"/>
              </a:rPr>
              <a:t/>
            </a:r>
            <a:r>
              <a:rPr sz="3350" spc="-265" dirty="0">
                <a:solidFill>
                  <a:srgbClr val="151515"/>
                </a:solidFill>
                <a:latin typeface="Arial MT"/>
                <a:cs typeface="Arial MT"/>
              </a:rPr>
              <a:t>model </a:t>
            </a:r>
            <a:r>
              <a:rPr sz="3350" spc="35" dirty="0">
                <a:solidFill>
                  <a:srgbClr val="151515"/>
                </a:solidFill>
                <a:latin typeface="Arial MT"/>
                <a:cs typeface="Arial MT"/>
              </a:rPr>
              <a:t/>
            </a:r>
            <a:r>
              <a:rPr sz="3350" spc="-125" dirty="0">
                <a:solidFill>
                  <a:srgbClr val="0F0F0F"/>
                </a:solidFill>
                <a:latin typeface="Arial MT"/>
                <a:cs typeface="Arial MT"/>
              </a:rPr>
              <a:t>training cycles </a:t>
            </a:r>
            <a:r>
              <a:rPr sz="3350" spc="-35" dirty="0">
                <a:solidFill>
                  <a:srgbClr val="0F0F0F"/>
                </a:solidFill>
                <a:latin typeface="Arial MT"/>
                <a:cs typeface="Arial MT"/>
              </a:rPr>
              <a:t/>
            </a:r>
            <a:r>
              <a:rPr sz="3350" spc="-114" dirty="0">
                <a:solidFill>
                  <a:srgbClr val="161616"/>
                </a:solidFill>
                <a:latin typeface="Arial MT"/>
                <a:cs typeface="Arial MT"/>
              </a:rPr>
              <a:t>from weeks </a:t>
            </a:r>
            <a:r>
              <a:rPr sz="3350" spc="30" dirty="0">
                <a:solidFill>
                  <a:srgbClr val="161616"/>
                </a:solidFill>
                <a:latin typeface="Arial MT"/>
                <a:cs typeface="Arial MT"/>
              </a:rPr>
              <a:t/>
            </a:r>
            <a:r>
              <a:rPr sz="3350" dirty="0">
                <a:solidFill>
                  <a:srgbClr val="0F0F0F"/>
                </a:solidFill>
                <a:latin typeface="Arial MT"/>
                <a:cs typeface="Arial MT"/>
              </a:rPr>
              <a:t/>
            </a:r>
            <a:r>
              <a:rPr sz="3350" spc="-85" dirty="0">
                <a:solidFill>
                  <a:srgbClr val="0F0F0F"/>
                </a:solidFill>
                <a:latin typeface="Arial MT"/>
                <a:cs typeface="Arial MT"/>
              </a:rPr>
              <a:t>to </a:t>
            </a:r>
            <a:r>
              <a:rPr sz="3350" spc="-20" dirty="0">
                <a:solidFill>
                  <a:srgbClr val="161616"/>
                </a:solidFill>
                <a:latin typeface="Arial MT"/>
                <a:cs typeface="Arial MT"/>
              </a:rPr>
              <a:t>hours </a:t>
            </a:r>
            <a:r>
              <a:rPr sz="3350" dirty="0">
                <a:solidFill>
                  <a:srgbClr val="1D1D1D"/>
                </a:solidFill>
                <a:latin typeface="Arial MT"/>
                <a:cs typeface="Arial MT"/>
              </a:rPr>
              <a:t/>
            </a:r>
            <a:r>
              <a:rPr sz="3350" spc="-210" dirty="0">
                <a:solidFill>
                  <a:srgbClr val="1D1D1D"/>
                </a:solidFill>
                <a:latin typeface="Arial MT"/>
                <a:cs typeface="Arial MT"/>
              </a:rPr>
              <a:t>for </a:t>
            </a:r>
            <a:r>
              <a:rPr sz="3350" spc="-95" dirty="0">
                <a:solidFill>
                  <a:srgbClr val="111111"/>
                </a:solidFill>
                <a:latin typeface="Arial MT"/>
                <a:cs typeface="Arial MT"/>
              </a:rPr>
              <a:t>complex </a:t>
            </a:r>
            <a:r>
              <a:rPr sz="3350" spc="-20" dirty="0">
                <a:solidFill>
                  <a:srgbClr val="111111"/>
                </a:solidFill>
                <a:latin typeface="Arial MT"/>
                <a:cs typeface="Arial MT"/>
              </a:rPr>
              <a:t/>
            </a:r>
            <a:r>
              <a:rPr sz="3350" spc="-125" dirty="0">
                <a:solidFill>
                  <a:srgbClr val="181818"/>
                </a:solidFill>
                <a:latin typeface="Arial MT"/>
                <a:cs typeface="Arial MT"/>
              </a:rPr>
              <a:t>data </a:t>
            </a:r>
            <a:r>
              <a:rPr sz="3350" spc="-110" dirty="0">
                <a:solidFill>
                  <a:srgbClr val="181818"/>
                </a:solidFill>
                <a:latin typeface="Arial MT"/>
                <a:cs typeface="Arial MT"/>
              </a:rPr>
              <a:t>processing </a:t>
            </a:r>
            <a:r>
              <a:rPr sz="3350" spc="-10" dirty="0">
                <a:solidFill>
                  <a:srgbClr val="161616"/>
                </a:solidFill>
                <a:latin typeface="Arial MT"/>
                <a:cs typeface="Arial MT"/>
              </a:rPr>
              <a:t>tasks.</a:t>
            </a:r>
            <a:endParaRPr sz="335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78075" y="11182905"/>
            <a:ext cx="5026025" cy="12565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1182905"/>
            <a:ext cx="10067925" cy="125730"/>
          </a:xfrm>
          <a:custGeom>
            <a:avLst/>
            <a:gdLst/>
            <a:ahLst/>
            <a:cxnLst/>
            <a:rect l="l" t="t" r="r" b="b"/>
            <a:pathLst>
              <a:path w="10067925" h="125729">
                <a:moveTo>
                  <a:pt x="0" y="0"/>
                </a:moveTo>
                <a:lnTo>
                  <a:pt x="10067756" y="0"/>
                </a:lnTo>
                <a:lnTo>
                  <a:pt x="10067756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r>
              <a:t>Scale custom AI solutions to meet unique enterprise requirements and drive measurable business impact.</a:t>
            </a:r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86437" y="1257360"/>
            <a:ext cx="18362976" cy="911185"/>
          </a:xfrm>
          <a:prstGeom prst="rect">
            <a:avLst/>
          </a:prstGeom>
        </p:spPr>
        <p:txBody>
          <a:bodyPr vert="horz" wrap="square" lIns="0" tIns="7941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400" spc="-70" dirty="0" smtClean="0">
                <a:solidFill>
                  <a:srgbClr val="4289E4"/>
                </a:solidFill>
              </a:rPr>
              <a:t/>
            </a:r>
            <a:r>
              <a:rPr lang="en-US" sz="5400" b="1" dirty="0" smtClean="0">
                <a:solidFill>
                  <a:srgbClr val="3F85FD"/>
                </a:solidFill>
              </a:rPr>
              <a:t>Custom AI </a:t>
            </a:r>
            <a:r>
              <a:rPr lang="en-US" sz="5400" b="1" spc="-25" dirty="0" smtClean="0">
                <a:solidFill>
                  <a:srgbClr val="3F85FD"/>
                </a:solidFill>
              </a:rPr>
              <a:t/>
            </a:r>
            <a:r>
              <a:rPr lang="en-US" sz="5400" b="1" spc="-85" dirty="0" smtClean="0">
                <a:solidFill>
                  <a:srgbClr val="4482F9"/>
                </a:solidFill>
              </a:rPr>
              <a:t>Development </a:t>
            </a:r>
            <a:r>
              <a:rPr lang="en-US" sz="5400" b="1" spc="-100" dirty="0" smtClean="0">
                <a:solidFill>
                  <a:srgbClr val="4482F9"/>
                </a:solidFill>
              </a:rPr>
              <a:t/>
            </a:r>
            <a:r>
              <a:rPr lang="en-US" sz="5400" b="1" spc="215" dirty="0" smtClean="0">
                <a:solidFill>
                  <a:srgbClr val="3B8AED"/>
                </a:solidFill>
              </a:rPr>
              <a:t/>
            </a:r>
            <a:r>
              <a:rPr lang="en-US" sz="5400" b="1" spc="-415" dirty="0" smtClean="0">
                <a:solidFill>
                  <a:srgbClr val="3B8AED"/>
                </a:solidFill>
              </a:rPr>
              <a:t>Frameworks</a:t>
            </a:r>
            <a:r>
              <a:rPr lang="en-US" sz="5400" b="1" spc="170" dirty="0" smtClean="0">
                <a:solidFill>
                  <a:srgbClr val="4285F7"/>
                </a:solidFill>
              </a:rPr>
              <a:t/>
            </a:r>
            <a:endParaRPr lang="en-US" sz="5400" b="1" dirty="0"/>
          </a:p>
        </p:txBody>
      </p:sp>
      <p:sp>
        <p:nvSpPr>
          <p:cNvPr id="8" name="object 8"/>
          <p:cNvSpPr txBox="1"/>
          <p:nvPr/>
        </p:nvSpPr>
        <p:spPr>
          <a:xfrm>
            <a:off x="1441450" y="4054475"/>
            <a:ext cx="4191000" cy="32409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4685F2"/>
                </a:solidFill>
                <a:latin typeface="Arial MT"/>
                <a:cs typeface="Arial MT"/>
              </a:rPr>
              <a:t>Cloud </a:t>
            </a:r>
            <a:r>
              <a:rPr sz="3600" spc="-35" dirty="0">
                <a:solidFill>
                  <a:srgbClr val="4685F2"/>
                </a:solidFill>
                <a:latin typeface="Arial MT"/>
                <a:cs typeface="Arial MT"/>
              </a:rPr>
              <a:t/>
            </a:r>
            <a:r>
              <a:rPr sz="3600" spc="100" dirty="0">
                <a:solidFill>
                  <a:srgbClr val="3687FD"/>
                </a:solidFill>
                <a:latin typeface="Arial MT"/>
                <a:cs typeface="Arial MT"/>
              </a:rPr>
              <a:t>AutoML</a:t>
            </a:r>
            <a:endParaRPr sz="3600" dirty="0">
              <a:latin typeface="Arial MT"/>
              <a:cs typeface="Arial MT"/>
            </a:endParaRPr>
          </a:p>
          <a:p>
            <a:pPr marL="20955" marR="5080" indent="5080">
              <a:lnSpc>
                <a:spcPct val="113599"/>
              </a:lnSpc>
              <a:spcBef>
                <a:spcPts val="1670"/>
              </a:spcBef>
            </a:pPr>
            <a:r>
              <a:rPr sz="2800" spc="-55" dirty="0">
                <a:solidFill>
                  <a:srgbClr val="596675"/>
                </a:solidFill>
                <a:latin typeface="Arial MT"/>
                <a:cs typeface="Arial MT"/>
              </a:rPr>
              <a:t>Build </a:t>
            </a:r>
            <a:r>
              <a:rPr sz="2800" spc="-70" dirty="0">
                <a:solidFill>
                  <a:srgbClr val="596675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/>
            </a:r>
            <a:r>
              <a:rPr sz="2800" spc="-65" dirty="0">
                <a:solidFill>
                  <a:srgbClr val="595959"/>
                </a:solidFill>
                <a:latin typeface="Arial MT"/>
                <a:cs typeface="Arial MT"/>
              </a:rPr>
              <a:t>high-accuracy </a:t>
            </a:r>
            <a:r>
              <a:rPr sz="2800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spc="-65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444444"/>
                </a:solidFill>
                <a:latin typeface="Arial MT"/>
                <a:cs typeface="Arial MT"/>
              </a:rPr>
              <a:t>models </a:t>
            </a:r>
            <a:r>
              <a:rPr sz="2800" spc="-55" dirty="0">
                <a:solidFill>
                  <a:srgbClr val="444444"/>
                </a:solidFill>
                <a:latin typeface="Arial MT"/>
                <a:cs typeface="Arial MT"/>
              </a:rPr>
              <a:t/>
            </a:r>
            <a:r>
              <a:rPr sz="2800" spc="-25" dirty="0">
                <a:solidFill>
                  <a:srgbClr val="595959"/>
                </a:solidFill>
                <a:latin typeface="Arial MT"/>
                <a:cs typeface="Arial MT"/>
              </a:rPr>
              <a:t>without </a:t>
            </a:r>
            <a:r>
              <a:rPr sz="2800" spc="-35" dirty="0">
                <a:solidFill>
                  <a:srgbClr val="4F4F4F"/>
                </a:solidFill>
                <a:latin typeface="Arial MT"/>
                <a:cs typeface="Arial MT"/>
              </a:rPr>
              <a:t>extensive </a:t>
            </a:r>
            <a:r>
              <a:rPr sz="2800" spc="10" dirty="0">
                <a:solidFill>
                  <a:srgbClr val="4F4F4F"/>
                </a:solidFill>
                <a:latin typeface="Arial MT"/>
                <a:cs typeface="Arial MT"/>
              </a:rPr>
              <a:t/>
            </a:r>
            <a:r>
              <a:rPr sz="2800" spc="-55" dirty="0">
                <a:solidFill>
                  <a:srgbClr val="4F4F4F"/>
                </a:solidFill>
                <a:latin typeface="Arial MT"/>
                <a:cs typeface="Arial MT"/>
              </a:rPr>
              <a:t>coding. </a:t>
            </a:r>
            <a:r>
              <a:rPr sz="2800" spc="15" dirty="0">
                <a:solidFill>
                  <a:srgbClr val="4F4F4F"/>
                </a:solidFill>
                <a:latin typeface="Arial MT"/>
                <a:cs typeface="Arial MT"/>
              </a:rPr>
              <a:t/>
            </a:r>
            <a:r>
              <a:rPr sz="2800" spc="-150" dirty="0">
                <a:solidFill>
                  <a:srgbClr val="575757"/>
                </a:solidFill>
                <a:latin typeface="Arial MT"/>
                <a:cs typeface="Arial MT"/>
              </a:rPr>
              <a:t/>
            </a:r>
            <a:r>
              <a:rPr sz="2800" spc="-20" dirty="0">
                <a:solidFill>
                  <a:srgbClr val="575757"/>
                </a:solidFill>
                <a:latin typeface="Arial MT"/>
                <a:cs typeface="Arial MT"/>
              </a:rPr>
              <a:t>Industry </a:t>
            </a:r>
            <a:r>
              <a:rPr sz="2800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spc="-75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95959"/>
                </a:solidFill>
                <a:latin typeface="Arial MT"/>
                <a:cs typeface="Arial MT"/>
              </a:rPr>
              <a:t>Use </a:t>
            </a:r>
            <a:r>
              <a:rPr sz="2800" spc="-70" dirty="0">
                <a:solidFill>
                  <a:srgbClr val="595959"/>
                </a:solidFill>
                <a:latin typeface="Arial MT"/>
                <a:cs typeface="Arial MT"/>
              </a:rPr>
              <a:t/>
            </a:r>
            <a:r>
              <a:rPr sz="2800" spc="-25" dirty="0">
                <a:solidFill>
                  <a:srgbClr val="525252"/>
                </a:solidFill>
                <a:latin typeface="Arial MT"/>
                <a:cs typeface="Arial MT"/>
              </a:rPr>
              <a:t>Case: </a:t>
            </a:r>
            <a:r>
              <a:rPr sz="2800" dirty="0">
                <a:solidFill>
                  <a:srgbClr val="5D5D5D"/>
                </a:solidFill>
                <a:latin typeface="Arial MT"/>
                <a:cs typeface="Arial MT"/>
              </a:rPr>
              <a:t/>
            </a:r>
            <a:r>
              <a:rPr sz="2800" spc="-165" dirty="0">
                <a:solidFill>
                  <a:srgbClr val="5D5D5D"/>
                </a:solidFill>
                <a:latin typeface="Arial MT"/>
                <a:cs typeface="Arial MT"/>
              </a:rPr>
              <a:t/>
            </a:r>
            <a:r>
              <a:rPr sz="2800" spc="-330" dirty="0">
                <a:solidFill>
                  <a:srgbClr val="626262"/>
                </a:solidFill>
                <a:latin typeface="Arial MT"/>
                <a:cs typeface="Arial MT"/>
              </a:rPr>
              <a:t/>
            </a:r>
            <a:r>
              <a:rPr sz="2800" spc="114" dirty="0">
                <a:solidFill>
                  <a:srgbClr val="626262"/>
                </a:solidFill>
                <a:latin typeface="Arial MT"/>
                <a:cs typeface="Arial MT"/>
              </a:rPr>
              <a:t/>
            </a:r>
            <a:r>
              <a:rPr sz="2800" spc="-10" dirty="0">
                <a:solidFill>
                  <a:srgbClr val="595959"/>
                </a:solidFill>
                <a:latin typeface="Arial MT"/>
                <a:cs typeface="Arial MT"/>
              </a:rPr>
              <a:t>Retailers </a:t>
            </a:r>
            <a:r>
              <a:rPr sz="2800" spc="-20" dirty="0">
                <a:solidFill>
                  <a:srgbClr val="595959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25252"/>
                </a:solidFill>
                <a:latin typeface="Arial MT"/>
                <a:cs typeface="Arial MT"/>
              </a:rPr>
              <a:t>automate </a:t>
            </a:r>
            <a:r>
              <a:rPr sz="2800" spc="-15" dirty="0">
                <a:solidFill>
                  <a:srgbClr val="525252"/>
                </a:solidFill>
                <a:latin typeface="Arial MT"/>
                <a:cs typeface="Arial MT"/>
              </a:rPr>
              <a:t>inventory </a:t>
            </a:r>
            <a:r>
              <a:rPr sz="2800" dirty="0">
                <a:solidFill>
                  <a:srgbClr val="5B5B5B"/>
                </a:solidFill>
                <a:latin typeface="Arial MT"/>
                <a:cs typeface="Arial MT"/>
              </a:rPr>
              <a:t/>
            </a:r>
            <a:r>
              <a:rPr sz="2800" spc="-95" dirty="0">
                <a:solidFill>
                  <a:srgbClr val="5B5B5B"/>
                </a:solidFill>
                <a:latin typeface="Arial MT"/>
                <a:cs typeface="Arial MT"/>
              </a:rPr>
              <a:t/>
            </a:r>
            <a:r>
              <a:rPr sz="2800" spc="-20" dirty="0">
                <a:solidFill>
                  <a:srgbClr val="5B5B5B"/>
                </a:solidFill>
                <a:latin typeface="Arial MT"/>
                <a:cs typeface="Arial MT"/>
              </a:rPr>
              <a:t>classification </a:t>
            </a:r>
            <a:r>
              <a:rPr sz="2800" spc="-40" dirty="0">
                <a:solidFill>
                  <a:srgbClr val="5B5B5B"/>
                </a:solidFill>
                <a:latin typeface="Arial MT"/>
                <a:cs typeface="Arial MT"/>
              </a:rPr>
              <a:t/>
            </a:r>
            <a:r>
              <a:rPr sz="2800" spc="-10" dirty="0">
                <a:solidFill>
                  <a:srgbClr val="565656"/>
                </a:solidFill>
                <a:latin typeface="Arial MT"/>
                <a:cs typeface="Arial MT"/>
              </a:rPr>
              <a:t>with </a:t>
            </a:r>
            <a:r>
              <a:rPr sz="2800" spc="-30" dirty="0">
                <a:solidFill>
                  <a:srgbClr val="575757"/>
                </a:solidFill>
                <a:latin typeface="Arial MT"/>
                <a:cs typeface="Arial MT"/>
              </a:rPr>
              <a:t>95%+ </a:t>
            </a:r>
            <a:r>
              <a:rPr sz="2800" spc="-90" dirty="0">
                <a:solidFill>
                  <a:srgbClr val="575757"/>
                </a:solidFill>
                <a:latin typeface="Arial MT"/>
                <a:cs typeface="Arial MT"/>
              </a:rPr>
              <a:t/>
            </a:r>
            <a:r>
              <a:rPr sz="2800" spc="-10" dirty="0">
                <a:solidFill>
                  <a:srgbClr val="4F4F4F"/>
                </a:solidFill>
                <a:latin typeface="Arial MT"/>
                <a:cs typeface="Arial MT"/>
              </a:rPr>
              <a:t>precision.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461250" y="4816475"/>
            <a:ext cx="4501515" cy="32409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110" dirty="0">
                <a:solidFill>
                  <a:srgbClr val="4689FF"/>
                </a:solidFill>
                <a:latin typeface="Arial MT"/>
                <a:cs typeface="Arial MT"/>
              </a:rPr>
              <a:t>Vertex </a:t>
            </a:r>
            <a:r>
              <a:rPr sz="3600" spc="-265" dirty="0">
                <a:solidFill>
                  <a:srgbClr val="4689FF"/>
                </a:solidFill>
                <a:latin typeface="Arial MT"/>
                <a:cs typeface="Arial MT"/>
              </a:rPr>
              <a:t/>
            </a:r>
            <a:r>
              <a:rPr sz="3600" spc="-10" dirty="0">
                <a:solidFill>
                  <a:srgbClr val="3D85FB"/>
                </a:solidFill>
                <a:latin typeface="Arial MT"/>
                <a:cs typeface="Arial MT"/>
              </a:rPr>
              <a:t>AI (ML Engine)</a:t>
            </a:r>
            <a:endParaRPr sz="3600" dirty="0">
              <a:latin typeface="Arial MT"/>
              <a:cs typeface="Arial MT"/>
            </a:endParaRPr>
          </a:p>
          <a:p>
            <a:pPr marL="15875" marR="5080" indent="5080">
              <a:lnSpc>
                <a:spcPct val="113599"/>
              </a:lnSpc>
              <a:spcBef>
                <a:spcPts val="1670"/>
              </a:spcBef>
            </a:pPr>
            <a:r>
              <a:rPr sz="2800" spc="-265" dirty="0">
                <a:solidFill>
                  <a:srgbClr val="5E5E5E"/>
                </a:solidFill>
                <a:latin typeface="Arial MT"/>
                <a:cs typeface="Arial MT"/>
              </a:rPr>
              <a:t/>
            </a:r>
            <a:r>
              <a:rPr sz="2800" spc="75" dirty="0">
                <a:solidFill>
                  <a:srgbClr val="5E5E5E"/>
                </a:solidFill>
                <a:latin typeface="Arial MT"/>
                <a:cs typeface="Arial MT"/>
              </a:rPr>
              <a:t/>
            </a:r>
            <a:r>
              <a:rPr sz="2800" spc="-10" dirty="0">
                <a:solidFill>
                  <a:srgbClr val="565656"/>
                </a:solidFill>
                <a:latin typeface="Arial MT"/>
                <a:cs typeface="Arial MT"/>
              </a:rPr>
              <a:t>Accelerate large-scale </a:t>
            </a:r>
            <a:r>
              <a:rPr sz="2800" spc="-55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464646"/>
                </a:solidFill>
                <a:latin typeface="Arial MT"/>
                <a:cs typeface="Arial MT"/>
              </a:rPr>
              <a:t/>
            </a:r>
            <a:r>
              <a:rPr sz="2800" spc="-5" dirty="0">
                <a:solidFill>
                  <a:srgbClr val="464646"/>
                </a:solidFill>
                <a:latin typeface="Arial MT"/>
                <a:cs typeface="Arial MT"/>
              </a:rPr>
              <a:t/>
            </a:r>
            <a:r>
              <a:rPr sz="2800" spc="-20" dirty="0">
                <a:solidFill>
                  <a:srgbClr val="525252"/>
                </a:solidFill>
                <a:latin typeface="Arial MT"/>
                <a:cs typeface="Arial MT"/>
              </a:rPr>
              <a:t>projects via </a:t>
            </a:r>
            <a:r>
              <a:rPr sz="2800" dirty="0">
                <a:solidFill>
                  <a:srgbClr val="525252"/>
                </a:solidFill>
                <a:latin typeface="Arial MT"/>
                <a:cs typeface="Arial MT"/>
              </a:rPr>
              <a:t/>
            </a:r>
            <a:r>
              <a:rPr sz="2800" spc="-30" dirty="0">
                <a:solidFill>
                  <a:srgbClr val="525252"/>
                </a:solidFill>
                <a:latin typeface="Arial MT"/>
                <a:cs typeface="Arial MT"/>
              </a:rPr>
              <a:t>managed </a:t>
            </a:r>
            <a:r>
              <a:rPr sz="2800" spc="-45" dirty="0">
                <a:solidFill>
                  <a:srgbClr val="525252"/>
                </a:solidFill>
                <a:latin typeface="Arial MT"/>
                <a:cs typeface="Arial MT"/>
              </a:rPr>
              <a:t>environments. </a:t>
            </a:r>
            <a:r>
              <a:rPr sz="2800" spc="-135" dirty="0">
                <a:solidFill>
                  <a:srgbClr val="525252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B5B5B"/>
                </a:solidFill>
                <a:latin typeface="Arial MT"/>
                <a:cs typeface="Arial MT"/>
              </a:rPr>
              <a:t>Industry </a:t>
            </a:r>
            <a:r>
              <a:rPr sz="2800" spc="-145" dirty="0">
                <a:solidFill>
                  <a:srgbClr val="5B5B5B"/>
                </a:solidFill>
                <a:latin typeface="Arial MT"/>
                <a:cs typeface="Arial MT"/>
              </a:rPr>
              <a:t/>
            </a:r>
            <a:r>
              <a:rPr sz="2800" spc="-35" dirty="0">
                <a:solidFill>
                  <a:srgbClr val="565656"/>
                </a:solidFill>
                <a:latin typeface="Arial MT"/>
                <a:cs typeface="Arial MT"/>
              </a:rPr>
              <a:t>Use </a:t>
            </a:r>
            <a:r>
              <a:rPr sz="2800" spc="30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spc="-160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spc="-10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25252"/>
                </a:solidFill>
                <a:latin typeface="Arial MT"/>
                <a:cs typeface="Arial MT"/>
              </a:rPr>
              <a:t>Case: </a:t>
            </a:r>
            <a:r>
              <a:rPr sz="2800" spc="5" dirty="0">
                <a:solidFill>
                  <a:srgbClr val="525252"/>
                </a:solidFill>
                <a:latin typeface="Arial MT"/>
                <a:cs typeface="Arial MT"/>
              </a:rPr>
              <a:t>Finance </a:t>
            </a:r>
            <a:r>
              <a:rPr sz="2800" spc="-10" dirty="0">
                <a:solidFill>
                  <a:srgbClr val="545454"/>
                </a:solidFill>
                <a:latin typeface="Arial MT"/>
                <a:cs typeface="Arial MT"/>
              </a:rPr>
              <a:t>firms </a:t>
            </a:r>
            <a:r>
              <a:rPr sz="2800" spc="-35" dirty="0">
                <a:solidFill>
                  <a:srgbClr val="565656"/>
                </a:solidFill>
                <a:latin typeface="Arial MT"/>
                <a:cs typeface="Arial MT"/>
              </a:rPr>
              <a:t>deploy </a:t>
            </a:r>
            <a:r>
              <a:rPr sz="2800" spc="-40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3B3B3B"/>
                </a:solidFill>
                <a:latin typeface="Arial MT"/>
                <a:cs typeface="Arial MT"/>
              </a:rPr>
              <a:t>predictive </a:t>
            </a:r>
            <a:r>
              <a:rPr sz="2800" spc="-35" dirty="0">
                <a:solidFill>
                  <a:srgbClr val="5B5B5B"/>
                </a:solidFill>
                <a:latin typeface="Arial MT"/>
                <a:cs typeface="Arial MT"/>
              </a:rPr>
              <a:t>fraud </a:t>
            </a:r>
            <a:r>
              <a:rPr sz="2800" spc="-95" dirty="0">
                <a:solidFill>
                  <a:srgbClr val="5B5B5B"/>
                </a:solidFill>
                <a:latin typeface="Arial MT"/>
                <a:cs typeface="Arial MT"/>
              </a:rPr>
              <a:t/>
            </a:r>
            <a:r>
              <a:rPr sz="2800" spc="-10" dirty="0">
                <a:solidFill>
                  <a:srgbClr val="545454"/>
                </a:solidFill>
                <a:latin typeface="Arial MT"/>
                <a:cs typeface="Arial MT"/>
              </a:rPr>
              <a:t>detection </a:t>
            </a:r>
            <a:r>
              <a:rPr sz="2800" spc="-40" dirty="0">
                <a:solidFill>
                  <a:srgbClr val="5B5B5B"/>
                </a:solidFill>
                <a:latin typeface="Arial MT"/>
                <a:cs typeface="Arial MT"/>
              </a:rPr>
              <a:t>models </a:t>
            </a:r>
            <a:r>
              <a:rPr sz="2800" spc="15" dirty="0">
                <a:solidFill>
                  <a:srgbClr val="5B5B5B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65656"/>
                </a:solidFill>
                <a:latin typeface="Arial MT"/>
                <a:cs typeface="Arial MT"/>
              </a:rPr>
              <a:t>3x </a:t>
            </a:r>
            <a:r>
              <a:rPr sz="2800" spc="-40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spc="-10" dirty="0">
                <a:solidFill>
                  <a:srgbClr val="4F4F4F"/>
                </a:solidFill>
                <a:latin typeface="Arial MT"/>
                <a:cs typeface="Arial MT"/>
              </a:rPr>
              <a:t>faster.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18222" y="5883275"/>
            <a:ext cx="3872865" cy="27497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75" dirty="0">
                <a:solidFill>
                  <a:srgbClr val="3685E9"/>
                </a:solidFill>
                <a:latin typeface="Arial MT"/>
                <a:cs typeface="Arial MT"/>
              </a:rPr>
              <a:t>Custom </a:t>
            </a:r>
            <a:r>
              <a:rPr sz="3600" spc="-160" dirty="0">
                <a:solidFill>
                  <a:srgbClr val="3685E9"/>
                </a:solidFill>
                <a:latin typeface="Arial MT"/>
                <a:cs typeface="Arial MT"/>
              </a:rPr>
              <a:t/>
            </a:r>
            <a:r>
              <a:rPr sz="3600" spc="60" dirty="0">
                <a:solidFill>
                  <a:srgbClr val="418AF4"/>
                </a:solidFill>
                <a:latin typeface="Arial MT"/>
                <a:cs typeface="Arial MT"/>
              </a:rPr>
              <a:t>Training</a:t>
            </a:r>
            <a:endParaRPr sz="3600" dirty="0">
              <a:latin typeface="Arial MT"/>
              <a:cs typeface="Arial MT"/>
            </a:endParaRPr>
          </a:p>
          <a:p>
            <a:pPr marL="20955" marR="5080" indent="5080">
              <a:lnSpc>
                <a:spcPct val="113599"/>
              </a:lnSpc>
              <a:spcBef>
                <a:spcPts val="1670"/>
              </a:spcBef>
            </a:pPr>
            <a:r>
              <a:rPr sz="2800" spc="-40" dirty="0">
                <a:solidFill>
                  <a:srgbClr val="464646"/>
                </a:solidFill>
                <a:latin typeface="Arial MT"/>
                <a:cs typeface="Arial MT"/>
              </a:rPr>
              <a:t>Streamline complex </a:t>
            </a:r>
            <a:r>
              <a:rPr sz="2800" dirty="0">
                <a:solidFill>
                  <a:srgbClr val="464646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25252"/>
                </a:solidFill>
                <a:latin typeface="Arial MT"/>
                <a:cs typeface="Arial MT"/>
              </a:rPr>
              <a:t/>
            </a:r>
            <a:r>
              <a:rPr sz="2800" spc="-75" dirty="0">
                <a:solidFill>
                  <a:srgbClr val="525252"/>
                </a:solidFill>
                <a:latin typeface="Arial MT"/>
                <a:cs typeface="Arial MT"/>
              </a:rPr>
              <a:t/>
            </a:r>
            <a:r>
              <a:rPr sz="2800" spc="-20" dirty="0">
                <a:solidFill>
                  <a:srgbClr val="4D4D4D"/>
                </a:solidFill>
                <a:latin typeface="Arial MT"/>
                <a:cs typeface="Arial MT"/>
              </a:rPr>
              <a:t>ML </a:t>
            </a:r>
            <a:r>
              <a:rPr sz="2800" spc="-114" dirty="0">
                <a:solidFill>
                  <a:srgbClr val="4D4D4D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75757"/>
                </a:solidFill>
                <a:latin typeface="Arial MT"/>
                <a:cs typeface="Arial MT"/>
              </a:rPr>
              <a:t>workflows </a:t>
            </a:r>
            <a:r>
              <a:rPr sz="2800" spc="-25" dirty="0">
                <a:solidFill>
                  <a:srgbClr val="575757"/>
                </a:solidFill>
                <a:latin typeface="Arial MT"/>
                <a:cs typeface="Arial MT"/>
              </a:rPr>
              <a:t>to </a:t>
            </a:r>
            <a:r>
              <a:rPr sz="2800" spc="-25" dirty="0">
                <a:solidFill>
                  <a:srgbClr val="4B4B4B"/>
                </a:solidFill>
                <a:latin typeface="Arial MT"/>
                <a:cs typeface="Arial MT"/>
              </a:rPr>
              <a:t/>
            </a:r>
            <a:r>
              <a:rPr sz="2800" spc="-55" dirty="0">
                <a:solidFill>
                  <a:srgbClr val="545454"/>
                </a:solidFill>
                <a:latin typeface="Arial MT"/>
                <a:cs typeface="Arial MT"/>
              </a:rPr>
              <a:t>prioritize </a:t>
            </a:r>
            <a:r>
              <a:rPr sz="2800" spc="20" dirty="0">
                <a:solidFill>
                  <a:srgbClr val="545454"/>
                </a:solidFill>
                <a:latin typeface="Arial MT"/>
                <a:cs typeface="Arial MT"/>
              </a:rPr>
              <a:t>core </a:t>
            </a:r>
            <a:r>
              <a:rPr sz="2800" spc="-40" dirty="0">
                <a:solidFill>
                  <a:srgbClr val="525252"/>
                </a:solidFill>
                <a:latin typeface="Arial MT"/>
                <a:cs typeface="Arial MT"/>
              </a:rPr>
              <a:t>logic. </a:t>
            </a:r>
            <a:r>
              <a:rPr sz="2800" spc="-25" dirty="0">
                <a:solidFill>
                  <a:srgbClr val="525252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75757"/>
                </a:solidFill>
                <a:latin typeface="Arial MT"/>
                <a:cs typeface="Arial MT"/>
              </a:rPr>
              <a:t>Industry </a:t>
            </a:r>
            <a:r>
              <a:rPr sz="2800" spc="-100" dirty="0">
                <a:solidFill>
                  <a:srgbClr val="575757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spc="-140" dirty="0">
                <a:solidFill>
                  <a:srgbClr val="565656"/>
                </a:solidFill>
                <a:latin typeface="Arial MT"/>
                <a:cs typeface="Arial MT"/>
              </a:rPr>
              <a:t>Use </a:t>
            </a:r>
            <a:r>
              <a:rPr sz="2800" spc="-25" dirty="0">
                <a:solidFill>
                  <a:srgbClr val="595959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65656"/>
                </a:solidFill>
                <a:latin typeface="Arial MT"/>
                <a:cs typeface="Arial MT"/>
              </a:rPr>
              <a:t>Case: </a:t>
            </a:r>
            <a:r>
              <a:rPr sz="2800" spc="-25" dirty="0">
                <a:solidFill>
                  <a:srgbClr val="565656"/>
                </a:solidFill>
                <a:latin typeface="Arial MT"/>
                <a:cs typeface="Arial MT"/>
              </a:rPr>
              <a:t/>
            </a:r>
            <a:r>
              <a:rPr sz="2800" dirty="0">
                <a:solidFill>
                  <a:srgbClr val="5D5D5D"/>
                </a:solidFill>
                <a:latin typeface="Arial MT"/>
                <a:cs typeface="Arial MT"/>
              </a:rPr>
              <a:t>Healthcare </a:t>
            </a:r>
            <a:r>
              <a:rPr sz="2800" spc="-75" dirty="0">
                <a:solidFill>
                  <a:srgbClr val="5D5D5D"/>
                </a:solidFill>
                <a:latin typeface="Arial MT"/>
                <a:cs typeface="Arial MT"/>
              </a:rPr>
              <a:t/>
            </a:r>
            <a:r>
              <a:rPr sz="2800" spc="-25" dirty="0">
                <a:solidFill>
                  <a:srgbClr val="575757"/>
                </a:solidFill>
                <a:latin typeface="Arial MT"/>
                <a:cs typeface="Arial MT"/>
              </a:rPr>
              <a:t>providers </a:t>
            </a:r>
            <a:r>
              <a:rPr sz="2800" spc="-65" dirty="0">
                <a:solidFill>
                  <a:srgbClr val="575757"/>
                </a:solidFill>
                <a:latin typeface="Arial MT"/>
                <a:cs typeface="Arial MT"/>
              </a:rPr>
              <a:t>optimize </a:t>
            </a:r>
            <a:r>
              <a:rPr sz="2800" spc="-10" dirty="0">
                <a:solidFill>
                  <a:srgbClr val="565656"/>
                </a:solidFill>
                <a:latin typeface="Arial MT"/>
                <a:cs typeface="Arial MT"/>
              </a:rPr>
              <a:t>diagnostic imaging pipelines.</a:t>
            </a:r>
            <a:endParaRPr sz="2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95250" y="3982142"/>
            <a:ext cx="6671269" cy="4629830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11182905"/>
            <a:ext cx="20104100" cy="125730"/>
          </a:xfrm>
          <a:custGeom>
            <a:avLst/>
            <a:gdLst/>
            <a:ahLst/>
            <a:cxnLst/>
            <a:rect l="l" t="t" r="r" b="b"/>
            <a:pathLst>
              <a:path w="20104100" h="125729">
                <a:moveTo>
                  <a:pt x="0" y="0"/>
                </a:moveTo>
                <a:lnTo>
                  <a:pt x="20104101" y="0"/>
                </a:lnTo>
                <a:lnTo>
                  <a:pt x="20104101" y="125650"/>
                </a:lnTo>
                <a:lnTo>
                  <a:pt x="0" y="125650"/>
                </a:lnTo>
                <a:lnTo>
                  <a:pt x="0" y="0"/>
                </a:lnTo>
                <a:close/>
              </a:path>
            </a:pathLst>
          </a:custGeom>
          <a:solidFill>
            <a:srgbClr val="ED4242"/>
          </a:solidFill>
        </p:spPr>
        <p:txBody>
          <a:bodyPr wrap="square" lIns="0" tIns="0" rIns="0" bIns="0" rtlCol="0"/>
          <a:lstStyle/>
          <a:p>
            <a:r>
              <a:t>Scale unstructured data processing: Reduce manual document review time by 80% through automated analysis.</a:t>
            </a:r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07509" y="1937068"/>
            <a:ext cx="8386445" cy="929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900" spc="-860" dirty="0" smtClean="0">
                <a:solidFill>
                  <a:srgbClr val="3F87F6"/>
                </a:solidFill>
              </a:rPr>
              <a:t/>
            </a:r>
            <a:r>
              <a:rPr sz="5900" b="1" spc="-254" dirty="0">
                <a:solidFill>
                  <a:srgbClr val="3D80F4"/>
                </a:solidFill>
              </a:rPr>
              <a:t>Cloud </a:t>
            </a:r>
            <a:r>
              <a:rPr sz="5900" b="1" spc="-490" dirty="0">
                <a:solidFill>
                  <a:srgbClr val="3D80F4"/>
                </a:solidFill>
              </a:rPr>
              <a:t/>
            </a:r>
            <a:r>
              <a:rPr sz="5900" b="1" spc="-10" dirty="0">
                <a:solidFill>
                  <a:srgbClr val="4485F2"/>
                </a:solidFill>
              </a:rPr>
              <a:t>Natural Language: </a:t>
            </a:r>
            <a:r>
              <a:rPr sz="5900" b="1" spc="-409" dirty="0">
                <a:solidFill>
                  <a:srgbClr val="4485F2"/>
                </a:solidFill>
              </a:rPr>
              <a:t/>
            </a:r>
            <a:r>
              <a:rPr sz="5900" b="1" spc="-200" dirty="0">
                <a:solidFill>
                  <a:srgbClr val="3F85F6"/>
                </a:solidFill>
              </a:rPr>
              <a:t>Text Intelligence</a:t>
            </a:r>
            <a:endParaRPr sz="5900" b="1"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74650" y="3982142"/>
            <a:ext cx="11582940" cy="3952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7870" marR="45085" indent="-720090">
              <a:lnSpc>
                <a:spcPct val="100000"/>
              </a:lnSpc>
              <a:spcBef>
                <a:spcPts val="100"/>
              </a:spcBef>
              <a:tabLst>
                <a:tab pos="739140" algn="l"/>
                <a:tab pos="6525259" algn="l"/>
              </a:tabLst>
            </a:pPr>
            <a:r>
              <a:rPr dirty="0">
                <a:solidFill>
                  <a:srgbClr val="3F87ED"/>
                </a:solidFill>
              </a:rPr>
              <a:t/>
            </a:r>
            <a:r>
              <a:rPr b="1" spc="-17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Syntax </a:t>
            </a:r>
            <a:r>
              <a:rPr b="1" spc="-90" dirty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r>
              <a:rPr b="1" spc="-7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Analysis: </a:t>
            </a:r>
            <a:r>
              <a:rPr b="1" spc="-165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Automate </a:t>
            </a:r>
            <a:r>
              <a:rPr spc="-80" dirty="0"/>
              <a:t>content </a:t>
            </a:r>
            <a:r>
              <a:rPr spc="-125" dirty="0"/>
              <a:t/>
            </a:r>
            <a:r>
              <a:rPr spc="-10" dirty="0" smtClean="0"/>
              <a:t>tagging </a:t>
            </a:r>
            <a:r>
              <a:rPr lang="en-US" dirty="0"/>
              <a:t/>
            </a:r>
            <a:r>
              <a:rPr spc="-20" dirty="0" smtClean="0">
                <a:solidFill>
                  <a:srgbClr val="1A1A1A"/>
                </a:solidFill>
              </a:rPr>
              <a:t>by </a:t>
            </a:r>
            <a:r>
              <a:rPr spc="-20" dirty="0">
                <a:solidFill>
                  <a:srgbClr val="1A1A1A"/>
                </a:solidFill>
              </a:rPr>
              <a:t>extracting </a:t>
            </a:r>
            <a:r>
              <a:rPr spc="-165" dirty="0">
                <a:solidFill>
                  <a:srgbClr val="1A1A1A"/>
                </a:solidFill>
              </a:rPr>
              <a:t/>
            </a:r>
            <a:r>
              <a:rPr spc="-195" dirty="0">
                <a:solidFill>
                  <a:srgbClr val="1F1F1F"/>
                </a:solidFill>
              </a:rPr>
              <a:t/>
            </a:r>
            <a:r>
              <a:rPr spc="-85" dirty="0">
                <a:solidFill>
                  <a:srgbClr val="111111"/>
                </a:solidFill>
              </a:rPr>
              <a:t>linguistic structures </a:t>
            </a:r>
            <a:r>
              <a:rPr dirty="0">
                <a:solidFill>
                  <a:srgbClr val="0E0E0E"/>
                </a:solidFill>
              </a:rPr>
              <a:t>to </a:t>
            </a:r>
            <a:r>
              <a:rPr spc="-220" dirty="0">
                <a:solidFill>
                  <a:srgbClr val="0E0E0E"/>
                </a:solidFill>
              </a:rPr>
              <a:t/>
            </a:r>
            <a:r>
              <a:rPr spc="-10" dirty="0"/>
              <a:t>categorize documents.</a:t>
            </a:r>
          </a:p>
          <a:p>
            <a:pPr marL="743585" marR="175260" indent="-731520">
              <a:lnSpc>
                <a:spcPct val="109500"/>
              </a:lnSpc>
              <a:spcBef>
                <a:spcPts val="3120"/>
              </a:spcBef>
              <a:tabLst>
                <a:tab pos="738505" algn="l"/>
              </a:tabLst>
            </a:pPr>
            <a:r>
              <a:rPr sz="3200" dirty="0">
                <a:solidFill>
                  <a:srgbClr val="4980F4"/>
                </a:solidFill>
              </a:rPr>
              <a:t/>
            </a:r>
            <a:r>
              <a:rPr sz="3200" b="1" spc="-2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Sentiment Analysis: </a:t>
            </a:r>
            <a:r>
              <a:rPr sz="3200" spc="-20" dirty="0"/>
              <a:t/>
            </a:r>
            <a:r>
              <a:rPr sz="3200" spc="-10" dirty="0"/>
              <a:t/>
            </a:r>
            <a:r>
              <a:rPr sz="3200" spc="-90" dirty="0">
                <a:solidFill>
                  <a:srgbClr val="1A1A1A"/>
                </a:solidFill>
              </a:rPr>
              <a:t>Improve </a:t>
            </a:r>
            <a:r>
              <a:rPr sz="3200" dirty="0"/>
              <a:t>service </a:t>
            </a:r>
            <a:r>
              <a:rPr sz="3200" spc="-30" dirty="0"/>
              <a:t/>
            </a:r>
            <a:r>
              <a:rPr sz="3200" dirty="0">
                <a:solidFill>
                  <a:srgbClr val="161616"/>
                </a:solidFill>
              </a:rPr>
              <a:t>outcomes </a:t>
            </a:r>
            <a:r>
              <a:rPr sz="3200" spc="-125" dirty="0">
                <a:solidFill>
                  <a:srgbClr val="161616"/>
                </a:solidFill>
              </a:rPr>
              <a:t/>
            </a:r>
            <a:r>
              <a:rPr sz="3200" spc="-10" dirty="0">
                <a:solidFill>
                  <a:srgbClr val="1A1A1A"/>
                </a:solidFill>
              </a:rPr>
              <a:t>in retail </a:t>
            </a:r>
            <a:r>
              <a:rPr sz="3200" spc="105" dirty="0">
                <a:solidFill>
                  <a:srgbClr val="1A1A1A"/>
                </a:solidFill>
              </a:rPr>
              <a:t/>
            </a:r>
            <a:r>
              <a:rPr sz="3200" spc="-10" dirty="0">
                <a:solidFill>
                  <a:srgbClr val="000000"/>
                </a:solidFill>
              </a:rPr>
              <a:t>and </a:t>
            </a:r>
            <a:r>
              <a:rPr sz="3200" dirty="0">
                <a:solidFill>
                  <a:srgbClr val="1D1D1D"/>
                </a:solidFill>
              </a:rPr>
              <a:t>finance </a:t>
            </a:r>
            <a:r>
              <a:rPr sz="3200" spc="-25" dirty="0">
                <a:solidFill>
                  <a:srgbClr val="1D1D1D"/>
                </a:solidFill>
              </a:rPr>
              <a:t/>
            </a:r>
            <a:r>
              <a:rPr sz="3200" spc="-35" dirty="0">
                <a:solidFill>
                  <a:srgbClr val="1A1A1A"/>
                </a:solidFill>
              </a:rPr>
              <a:t>by </a:t>
            </a:r>
            <a:r>
              <a:rPr sz="3200" spc="20" dirty="0">
                <a:solidFill>
                  <a:srgbClr val="1A1A1A"/>
                </a:solidFill>
              </a:rPr>
              <a:t/>
            </a:r>
            <a:r>
              <a:rPr sz="3200" dirty="0">
                <a:solidFill>
                  <a:srgbClr val="1F1F1F"/>
                </a:solidFill>
              </a:rPr>
              <a:t/>
            </a:r>
            <a:r>
              <a:rPr sz="3200" spc="-220" dirty="0">
                <a:solidFill>
                  <a:srgbClr val="1F1F1F"/>
                </a:solidFill>
              </a:rPr>
              <a:t/>
            </a:r>
            <a:r>
              <a:rPr sz="3200" dirty="0"/>
              <a:t>quantifying customer </a:t>
            </a:r>
            <a:r>
              <a:rPr sz="3200" spc="65" dirty="0"/>
              <a:t/>
            </a:r>
            <a:r>
              <a:rPr sz="3200" spc="-10" dirty="0"/>
              <a:t>feedback emotion.</a:t>
            </a:r>
            <a:endParaRPr sz="3200" dirty="0"/>
          </a:p>
          <a:p>
            <a:pPr marL="741680" marR="5080" indent="-725805">
              <a:lnSpc>
                <a:spcPct val="103099"/>
              </a:lnSpc>
              <a:spcBef>
                <a:spcPts val="3060"/>
              </a:spcBef>
              <a:tabLst>
                <a:tab pos="730885" algn="l"/>
              </a:tabLst>
            </a:pPr>
            <a:r>
              <a:rPr dirty="0">
                <a:solidFill>
                  <a:srgbClr val="3889FF"/>
                </a:solidFill>
              </a:rPr>
              <a:t/>
            </a:r>
            <a:r>
              <a:rPr b="1" spc="-65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Entity Recognition: </a:t>
            </a:r>
            <a:r>
              <a:rPr b="1" spc="-145" dirty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r>
              <a:rPr spc="-100" dirty="0"/>
              <a:t>Streamline healthcare record </a:t>
            </a:r>
            <a:r>
              <a:rPr spc="-30" dirty="0"/>
              <a:t>processing </a:t>
            </a:r>
            <a:r>
              <a:rPr dirty="0">
                <a:solidFill>
                  <a:srgbClr val="1C1C1C"/>
                </a:solidFill>
              </a:rPr>
              <a:t>by </a:t>
            </a:r>
            <a:r>
              <a:rPr spc="-120" dirty="0">
                <a:solidFill>
                  <a:srgbClr val="1C1C1C"/>
                </a:solidFill>
              </a:rPr>
              <a:t/>
            </a:r>
            <a:r>
              <a:rPr spc="-140" dirty="0">
                <a:solidFill>
                  <a:srgbClr val="161616"/>
                </a:solidFill>
              </a:rPr>
              <a:t>identifying </a:t>
            </a:r>
            <a:r>
              <a:rPr spc="-90" dirty="0">
                <a:solidFill>
                  <a:srgbClr val="161616"/>
                </a:solidFill>
              </a:rPr>
              <a:t>and </a:t>
            </a:r>
            <a:r>
              <a:rPr spc="-65" dirty="0">
                <a:solidFill>
                  <a:srgbClr val="0A0A0A"/>
                </a:solidFill>
              </a:rPr>
              <a:t>extracting critical </a:t>
            </a:r>
            <a:r>
              <a:rPr spc="-140" dirty="0">
                <a:solidFill>
                  <a:srgbClr val="161616"/>
                </a:solidFill>
              </a:rPr>
              <a:t/>
            </a:r>
            <a:r>
              <a:rPr spc="-95" dirty="0">
                <a:solidFill>
                  <a:srgbClr val="161616"/>
                </a:solidFill>
              </a:rPr>
              <a:t>names, </a:t>
            </a:r>
            <a:r>
              <a:rPr spc="-65" dirty="0">
                <a:solidFill>
                  <a:srgbClr val="111111"/>
                </a:solidFill>
              </a:rPr>
              <a:t>locations, </a:t>
            </a:r>
            <a:r>
              <a:rPr spc="-140" dirty="0">
                <a:solidFill>
                  <a:srgbClr val="111111"/>
                </a:solidFill>
              </a:rPr>
              <a:t/>
            </a:r>
            <a:r>
              <a:rPr spc="-30" dirty="0">
                <a:solidFill>
                  <a:srgbClr val="1F1F1F"/>
                </a:solidFill>
              </a:rPr>
              <a:t>and </a:t>
            </a:r>
            <a:r>
              <a:rPr spc="-204" dirty="0">
                <a:solidFill>
                  <a:srgbClr val="1F1F1F"/>
                </a:solidFill>
              </a:rPr>
              <a:t/>
            </a:r>
            <a:r>
              <a:rPr spc="-10" dirty="0">
                <a:solidFill>
                  <a:srgbClr val="111111"/>
                </a:solidFill>
              </a:rPr>
              <a:t>brands.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14050" y="3529655"/>
            <a:ext cx="8638480" cy="560715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4250" y="1387475"/>
            <a:ext cx="10414000" cy="929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570230" algn="l"/>
              </a:tabLst>
            </a:pPr>
            <a:r>
              <a:rPr lang="en-US" sz="5900" b="1" spc="100" dirty="0" smtClean="0">
                <a:solidFill>
                  <a:srgbClr val="1D72DF"/>
                </a:solidFill>
              </a:rPr>
              <a:t>Vision &amp; </a:t>
            </a:r>
            <a:r>
              <a:rPr lang="en-US" sz="5900" b="1" spc="-455" dirty="0" smtClean="0">
                <a:solidFill>
                  <a:srgbClr val="1D72DF"/>
                </a:solidFill>
              </a:rPr>
              <a:t/>
            </a:r>
            <a:r>
              <a:rPr lang="en-US" sz="5900" b="1" spc="280" dirty="0" smtClean="0">
                <a:solidFill>
                  <a:srgbClr val="1577E2"/>
                </a:solidFill>
              </a:rPr>
              <a:t xml:space="preserve">Video Intelligence: </a:t>
            </a:r>
            <a:r>
              <a:rPr lang="en-US" sz="5900" b="1" spc="-490" dirty="0" smtClean="0">
                <a:solidFill>
                  <a:srgbClr val="1577E2"/>
                </a:solidFill>
              </a:rPr>
              <a:t/>
            </a:r>
            <a:r>
              <a:rPr lang="en-US" sz="5900" b="1" spc="105" dirty="0" smtClean="0">
                <a:solidFill>
                  <a:srgbClr val="1872ED"/>
                </a:solidFill>
              </a:rPr>
              <a:t>Automated Visual Analysis</a:t>
            </a:r>
            <a:endParaRPr lang="en-US" sz="5900" b="1" dirty="0"/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xfrm>
            <a:off x="854302" y="3140075"/>
            <a:ext cx="9578748" cy="57913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30250" marR="301625" indent="-654685">
              <a:lnSpc>
                <a:spcPct val="113799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733425" algn="l"/>
              </a:tabLst>
            </a:pPr>
            <a:r>
              <a:rPr sz="335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Vision </a:t>
            </a:r>
            <a:r>
              <a:rPr sz="3350" spc="65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API: </a:t>
            </a:r>
            <a:r>
              <a:rPr sz="5025" spc="-30" baseline="5804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r>
              <a:rPr lang="en-US" sz="5025" spc="-30" baseline="12437" dirty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r>
              <a:rPr sz="5025" spc="-30" baseline="12437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Achieve </a:t>
            </a:r>
            <a:r>
              <a:rPr sz="5025" spc="-569" baseline="12437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r>
              <a:rPr sz="3350" dirty="0">
                <a:solidFill>
                  <a:srgbClr val="0E0E0E"/>
                </a:solidFill>
              </a:rPr>
              <a:t>99% </a:t>
            </a:r>
            <a:r>
              <a:rPr sz="3350" spc="105" dirty="0">
                <a:solidFill>
                  <a:srgbClr val="0E0E0E"/>
                </a:solidFill>
              </a:rPr>
              <a:t/>
            </a:r>
            <a:r>
              <a:rPr sz="3350" spc="50" dirty="0">
                <a:solidFill>
                  <a:srgbClr val="0E0E0E"/>
                </a:solidFill>
              </a:rPr>
              <a:t>accuracy in image </a:t>
            </a:r>
            <a:r>
              <a:rPr sz="3350" spc="415" dirty="0">
                <a:solidFill>
                  <a:srgbClr val="0E0E0E"/>
                </a:solidFill>
              </a:rPr>
              <a:t/>
            </a:r>
            <a:r>
              <a:rPr sz="3350" dirty="0">
                <a:solidFill>
                  <a:srgbClr val="151515"/>
                </a:solidFill>
              </a:rPr>
              <a:t>classification </a:t>
            </a:r>
            <a:r>
              <a:rPr sz="3350" spc="250" dirty="0">
                <a:solidFill>
                  <a:srgbClr val="151515"/>
                </a:solidFill>
              </a:rPr>
              <a:t/>
            </a:r>
            <a:r>
              <a:rPr sz="3350" spc="-25" dirty="0">
                <a:solidFill>
                  <a:srgbClr val="000000"/>
                </a:solidFill>
              </a:rPr>
              <a:t>and </a:t>
            </a:r>
            <a:r>
              <a:rPr sz="3350" dirty="0"/>
              <a:t>object </a:t>
            </a:r>
            <a:r>
              <a:rPr sz="3350" spc="55" dirty="0"/>
              <a:t>detection </a:t>
            </a:r>
            <a:r>
              <a:rPr sz="3350" spc="60" dirty="0"/>
              <a:t>for </a:t>
            </a:r>
            <a:r>
              <a:rPr sz="3350" spc="35" dirty="0"/>
              <a:t>enterprise </a:t>
            </a:r>
            <a:r>
              <a:rPr sz="3350" dirty="0">
                <a:solidFill>
                  <a:srgbClr val="1F1F1F"/>
                </a:solidFill>
              </a:rPr>
              <a:t/>
            </a:r>
            <a:r>
              <a:rPr sz="3350" spc="-95" dirty="0">
                <a:solidFill>
                  <a:srgbClr val="1F1F1F"/>
                </a:solidFill>
              </a:rPr>
              <a:t/>
            </a:r>
            <a:r>
              <a:rPr sz="3350" spc="45" dirty="0"/>
              <a:t>asset management.</a:t>
            </a:r>
            <a:endParaRPr sz="3350" dirty="0"/>
          </a:p>
          <a:p>
            <a:pPr marL="737870" marR="1082675" indent="-662305">
              <a:lnSpc>
                <a:spcPct val="115399"/>
              </a:lnSpc>
              <a:spcBef>
                <a:spcPts val="2720"/>
              </a:spcBef>
              <a:buFont typeface="Wingdings" panose="05000000000000000000" pitchFamily="2" charset="2"/>
              <a:buChar char="Ø"/>
              <a:tabLst>
                <a:tab pos="733425" algn="l"/>
              </a:tabLst>
            </a:pPr>
            <a:r>
              <a:rPr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Video </a:t>
            </a:r>
            <a:r>
              <a:rPr spc="9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Intelligence: Reduce manual </a:t>
            </a:r>
            <a:r>
              <a:rPr spc="165" dirty="0">
                <a:solidFill>
                  <a:schemeClr val="tx2">
                    <a:lumMod val="60000"/>
                    <a:lumOff val="40000"/>
                  </a:schemeClr>
                </a:solidFill>
              </a:rPr>
              <a:t>tagging </a:t>
            </a:r>
            <a:r>
              <a:rPr dirty="0"/>
              <a:t>time </a:t>
            </a:r>
            <a:r>
              <a:rPr spc="20" dirty="0"/>
              <a:t/>
            </a:r>
            <a:r>
              <a:rPr dirty="0"/>
              <a:t>by </a:t>
            </a:r>
            <a:r>
              <a:rPr spc="-25" dirty="0"/>
              <a:t/>
            </a:r>
            <a:r>
              <a:rPr spc="65" dirty="0">
                <a:solidFill>
                  <a:srgbClr val="161616"/>
                </a:solidFill>
              </a:rPr>
              <a:t>80% via </a:t>
            </a:r>
            <a:r>
              <a:rPr dirty="0">
                <a:solidFill>
                  <a:srgbClr val="131313"/>
                </a:solidFill>
              </a:rPr>
              <a:t>automated </a:t>
            </a:r>
            <a:r>
              <a:rPr spc="509" dirty="0">
                <a:solidFill>
                  <a:srgbClr val="131313"/>
                </a:solidFill>
              </a:rPr>
              <a:t>indexing </a:t>
            </a:r>
            <a:r>
              <a:rPr dirty="0">
                <a:solidFill>
                  <a:srgbClr val="181818"/>
                </a:solidFill>
              </a:rPr>
              <a:t>and </a:t>
            </a:r>
            <a:r>
              <a:rPr spc="295" dirty="0">
                <a:solidFill>
                  <a:srgbClr val="181818"/>
                </a:solidFill>
              </a:rPr>
              <a:t>granular </a:t>
            </a:r>
            <a:r>
              <a:rPr dirty="0">
                <a:solidFill>
                  <a:srgbClr val="212121"/>
                </a:solidFill>
              </a:rPr>
              <a:t/>
            </a:r>
            <a:r>
              <a:rPr spc="114" dirty="0">
                <a:solidFill>
                  <a:srgbClr val="212121"/>
                </a:solidFill>
              </a:rPr>
              <a:t/>
            </a:r>
            <a:r>
              <a:rPr spc="-10" dirty="0">
                <a:solidFill>
                  <a:srgbClr val="000000"/>
                </a:solidFill>
              </a:rPr>
              <a:t>search capabilities.</a:t>
            </a:r>
          </a:p>
          <a:p>
            <a:pPr marL="727710" marR="2231390" indent="-652145">
              <a:lnSpc>
                <a:spcPct val="110800"/>
              </a:lnSpc>
              <a:spcBef>
                <a:spcPts val="2905"/>
              </a:spcBef>
              <a:buFont typeface="Wingdings" panose="05000000000000000000" pitchFamily="2" charset="2"/>
              <a:buChar char="Ø"/>
              <a:tabLst>
                <a:tab pos="725805" algn="l"/>
              </a:tabLst>
            </a:pPr>
            <a:r>
              <a:rPr lang="en-US" spc="-4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Detection Models: Automate </a:t>
            </a:r>
            <a:r>
              <a:rPr lang="en-US" spc="-7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r>
              <a:rPr lang="en-US" spc="-15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extraction of </a:t>
            </a:r>
            <a:r>
              <a:rPr lang="en-US" spc="-9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r>
              <a:rPr dirty="0" smtClean="0">
                <a:solidFill>
                  <a:srgbClr val="131313"/>
                </a:solidFill>
              </a:rPr>
              <a:t>text, facial </a:t>
            </a:r>
            <a:r>
              <a:rPr spc="215" dirty="0" smtClean="0">
                <a:solidFill>
                  <a:srgbClr val="131313"/>
                </a:solidFill>
              </a:rPr>
              <a:t/>
            </a:r>
            <a:r>
              <a:rPr spc="80" dirty="0"/>
              <a:t>features, and </a:t>
            </a:r>
            <a:r>
              <a:rPr spc="-80" dirty="0"/>
              <a:t/>
            </a:r>
            <a:r>
              <a:rPr spc="70" dirty="0" smtClean="0">
                <a:solidFill>
                  <a:srgbClr val="181818"/>
                </a:solidFill>
              </a:rPr>
              <a:t>brand </a:t>
            </a:r>
            <a:r>
              <a:rPr lang="en-US" spc="70" dirty="0" smtClean="0">
                <a:solidFill>
                  <a:srgbClr val="181818"/>
                </a:solidFill>
              </a:rPr>
              <a:t>logos for retail </a:t>
            </a:r>
            <a:r>
              <a:rPr spc="40" dirty="0" smtClean="0">
                <a:solidFill>
                  <a:srgbClr val="000000"/>
                </a:solidFill>
              </a:rPr>
              <a:t>inventory and security monitoring.</a:t>
            </a:r>
            <a:r>
              <a:rPr spc="40" dirty="0">
                <a:solidFill>
                  <a:srgbClr val="000000"/>
                </a:solidFill>
              </a:rPr>
              <a:t/>
            </a:r>
          </a:p>
          <a:p>
            <a:pPr marL="723265" marR="17780" indent="-647700">
              <a:lnSpc>
                <a:spcPct val="110800"/>
              </a:lnSpc>
              <a:spcBef>
                <a:spcPts val="3150"/>
              </a:spcBef>
              <a:buFont typeface="Wingdings" panose="05000000000000000000" pitchFamily="2" charset="2"/>
              <a:buChar char="Ø"/>
              <a:tabLst>
                <a:tab pos="730250" algn="l"/>
              </a:tabLst>
            </a:pPr>
            <a:r>
              <a:rPr dirty="0">
                <a:solidFill>
                  <a:srgbClr val="1C72E6"/>
                </a:solidFill>
              </a:rPr>
              <a:t/>
            </a:r>
            <a:r>
              <a:rPr lang="en-US" spc="-95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Industry </a:t>
            </a:r>
            <a:r>
              <a:rPr lang="en-US" spc="-6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pc="-35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/>
            </a:r>
            <a:r>
              <a:rPr lang="en-US" spc="-55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Case: Streamline visual </a:t>
            </a:r>
            <a:r>
              <a:rPr dirty="0" smtClean="0">
                <a:solidFill>
                  <a:srgbClr val="151515"/>
                </a:solidFill>
              </a:rPr>
              <a:t>content </a:t>
            </a:r>
            <a:r>
              <a:rPr spc="135" dirty="0" smtClean="0">
                <a:solidFill>
                  <a:srgbClr val="151515"/>
                </a:solidFill>
              </a:rPr>
              <a:t/>
            </a:r>
            <a:r>
              <a:rPr dirty="0">
                <a:solidFill>
                  <a:srgbClr val="0F0F0F"/>
                </a:solidFill>
              </a:rPr>
              <a:t>organization </a:t>
            </a:r>
            <a:r>
              <a:rPr spc="40" dirty="0">
                <a:solidFill>
                  <a:srgbClr val="0F0F0F"/>
                </a:solidFill>
              </a:rPr>
              <a:t>for </a:t>
            </a:r>
            <a:r>
              <a:rPr dirty="0"/>
              <a:t>healthcare </a:t>
            </a:r>
            <a:r>
              <a:rPr spc="120" dirty="0"/>
              <a:t/>
            </a:r>
            <a:r>
              <a:rPr spc="50" dirty="0">
                <a:solidFill>
                  <a:srgbClr val="1A1A1A"/>
                </a:solidFill>
              </a:rPr>
              <a:t>diagnostics </a:t>
            </a:r>
            <a:r>
              <a:rPr spc="229" dirty="0">
                <a:solidFill>
                  <a:srgbClr val="1A1A1A"/>
                </a:solidFill>
              </a:rPr>
              <a:t/>
            </a:r>
            <a:r>
              <a:rPr dirty="0">
                <a:solidFill>
                  <a:srgbClr val="0F0F0F"/>
                </a:solidFill>
              </a:rPr>
              <a:t>and </a:t>
            </a:r>
            <a:r>
              <a:rPr spc="-10" dirty="0">
                <a:solidFill>
                  <a:srgbClr val="131313"/>
                </a:solidFill>
              </a:rPr>
              <a:t>retail product </a:t>
            </a:r>
            <a:r>
              <a:rPr spc="85" dirty="0">
                <a:solidFill>
                  <a:srgbClr val="0F0F0F"/>
                </a:solidFill>
              </a:rPr>
              <a:t>cataloging.</a:t>
            </a:r>
          </a:p>
        </p:txBody>
      </p:sp>
    </p:spTree>
    <p:extLst>
      <p:ext uri="{BB962C8B-B14F-4D97-AF65-F5344CB8AC3E}">
        <p14:creationId xmlns:p14="http://schemas.microsoft.com/office/powerpoint/2010/main" val="32570877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42650" y="2073275"/>
            <a:ext cx="7613650" cy="625635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5736" y="1158875"/>
            <a:ext cx="8308114" cy="190944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ts val="7220"/>
              </a:lnSpc>
              <a:spcBef>
                <a:spcPts val="130"/>
              </a:spcBef>
            </a:pPr>
            <a:r>
              <a:rPr sz="6150" b="1" spc="-75" dirty="0" smtClean="0">
                <a:solidFill>
                  <a:srgbClr val="1D70E6"/>
                </a:solidFill>
              </a:rPr>
              <a:t/>
            </a:r>
            <a:r>
              <a:rPr lang="en-US" sz="6150" b="1" spc="-75" dirty="0" smtClean="0">
                <a:solidFill>
                  <a:srgbClr val="1D70E6"/>
                </a:solidFill>
              </a:rPr>
              <a:t/>
            </a:r>
            <a:r>
              <a:rPr sz="6150" b="1" spc="-75" dirty="0" smtClean="0">
                <a:solidFill>
                  <a:srgbClr val="1D70E6"/>
                </a:solidFill>
              </a:rPr>
              <a:t>Cloud </a:t>
            </a:r>
            <a:r>
              <a:rPr sz="6150" b="1" spc="-470" dirty="0" smtClean="0">
                <a:solidFill>
                  <a:srgbClr val="1D70E6"/>
                </a:solidFill>
              </a:rPr>
              <a:t/>
            </a:r>
            <a:r>
              <a:rPr sz="6150" b="1" spc="-10" dirty="0">
                <a:solidFill>
                  <a:srgbClr val="1C70F2"/>
                </a:solidFill>
              </a:rPr>
              <a:t>Translation</a:t>
            </a:r>
            <a:endParaRPr sz="6150" b="1" dirty="0"/>
          </a:p>
          <a:p>
            <a:pPr marL="35560">
              <a:lnSpc>
                <a:spcPts val="7580"/>
              </a:lnSpc>
            </a:pPr>
            <a:r>
              <a:rPr sz="6450" b="1" spc="-345" dirty="0">
                <a:solidFill>
                  <a:srgbClr val="1675E6"/>
                </a:solidFill>
              </a:rPr>
              <a:t>API Capabilities</a:t>
            </a:r>
            <a:endParaRPr sz="6450" b="1" dirty="0"/>
          </a:p>
        </p:txBody>
      </p:sp>
      <p:sp>
        <p:nvSpPr>
          <p:cNvPr id="4" name="object 4"/>
          <p:cNvSpPr txBox="1"/>
          <p:nvPr/>
        </p:nvSpPr>
        <p:spPr>
          <a:xfrm>
            <a:off x="905736" y="3733913"/>
            <a:ext cx="9679714" cy="5036763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735" marR="302895" indent="-6350">
              <a:lnSpc>
                <a:spcPct val="101299"/>
              </a:lnSpc>
              <a:spcBef>
                <a:spcPts val="65"/>
              </a:spcBef>
            </a:pPr>
            <a:r>
              <a:rPr lang="en-US" sz="2950" b="1" spc="60" dirty="0" smtClean="0">
                <a:solidFill>
                  <a:srgbClr val="525252"/>
                </a:solidFill>
                <a:latin typeface="Arial MT"/>
                <a:cs typeface="Arial MT"/>
              </a:rPr>
              <a:t>• Automate </a:t>
            </a:r>
            <a:r>
              <a:rPr lang="en-US" sz="2950" b="1" spc="375" dirty="0" smtClean="0">
                <a:solidFill>
                  <a:srgbClr val="525252"/>
                </a:solidFill>
                <a:latin typeface="Arial MT"/>
                <a:cs typeface="Arial MT"/>
              </a:rPr>
              <a:t/>
            </a:r>
            <a:r>
              <a:rPr lang="en-US" sz="2950" b="1" dirty="0" smtClean="0">
                <a:solidFill>
                  <a:srgbClr val="424242"/>
                </a:solidFill>
                <a:latin typeface="Arial MT"/>
                <a:cs typeface="Arial MT"/>
              </a:rPr>
              <a:t>real-time translation </a:t>
            </a:r>
            <a:r>
              <a:rPr lang="en-US" sz="2950" b="1" spc="495" dirty="0" smtClean="0">
                <a:solidFill>
                  <a:srgbClr val="424242"/>
                </a:solidFill>
                <a:latin typeface="Arial MT"/>
                <a:cs typeface="Arial MT"/>
              </a:rPr>
              <a:t/>
            </a:r>
            <a:r>
              <a:rPr lang="en-US" sz="2950" b="1" spc="55" dirty="0" smtClean="0">
                <a:solidFill>
                  <a:srgbClr val="545454"/>
                </a:solidFill>
                <a:latin typeface="Arial MT"/>
                <a:cs typeface="Arial MT"/>
              </a:rPr>
              <a:t>across </a:t>
            </a:r>
            <a:r>
              <a:rPr lang="en-US" sz="2950" b="1" spc="385" dirty="0" smtClean="0">
                <a:solidFill>
                  <a:srgbClr val="545454"/>
                </a:solidFill>
                <a:latin typeface="Arial MT"/>
                <a:cs typeface="Arial MT"/>
              </a:rPr>
              <a:t/>
            </a:r>
            <a:r>
              <a:rPr lang="en-US" sz="2950" b="1" spc="100" dirty="0" smtClean="0">
                <a:solidFill>
                  <a:srgbClr val="595959"/>
                </a:solidFill>
                <a:latin typeface="Arial MT"/>
                <a:cs typeface="Arial MT"/>
              </a:rPr>
              <a:t>135+ </a:t>
            </a:r>
            <a:r>
              <a:rPr lang="en-US" sz="2950" b="1" spc="450" dirty="0" smtClean="0">
                <a:solidFill>
                  <a:srgbClr val="595959"/>
                </a:solidFill>
                <a:latin typeface="Arial MT"/>
                <a:cs typeface="Arial MT"/>
              </a:rPr>
              <a:t/>
            </a:r>
            <a:r>
              <a:rPr lang="en-US" sz="2950" b="1" dirty="0" smtClean="0">
                <a:solidFill>
                  <a:srgbClr val="575757"/>
                </a:solidFill>
                <a:latin typeface="Arial MT"/>
                <a:cs typeface="Arial MT"/>
              </a:rPr>
              <a:t>languages </a:t>
            </a:r>
            <a:r>
              <a:rPr lang="en-US" sz="2950" b="1" spc="340" dirty="0" smtClean="0">
                <a:solidFill>
                  <a:srgbClr val="575757"/>
                </a:solidFill>
                <a:latin typeface="Arial MT"/>
                <a:cs typeface="Arial MT"/>
              </a:rPr>
              <a:t/>
            </a:r>
            <a:r>
              <a:rPr lang="en-US" sz="2950" b="1" dirty="0" smtClean="0">
                <a:solidFill>
                  <a:srgbClr val="5D5D5D"/>
                </a:solidFill>
                <a:latin typeface="Arial MT"/>
                <a:cs typeface="Arial MT"/>
              </a:rPr>
              <a:t>to accelerate </a:t>
            </a:r>
            <a:r>
              <a:rPr lang="en-US" sz="2950" b="1" spc="434" dirty="0" smtClean="0">
                <a:solidFill>
                  <a:srgbClr val="5D5D5D"/>
                </a:solidFill>
                <a:latin typeface="Arial MT"/>
                <a:cs typeface="Arial MT"/>
              </a:rPr>
              <a:t/>
            </a:r>
            <a:r>
              <a:rPr lang="en-US" sz="2950" b="1" spc="65" dirty="0" smtClean="0">
                <a:solidFill>
                  <a:srgbClr val="575757"/>
                </a:solidFill>
                <a:latin typeface="Arial MT"/>
                <a:cs typeface="Arial MT"/>
              </a:rPr>
              <a:t/>
            </a:r>
            <a:r>
              <a:rPr lang="en-US" sz="2950" b="1" spc="-10" dirty="0" smtClean="0">
                <a:solidFill>
                  <a:srgbClr val="545454"/>
                </a:solidFill>
                <a:latin typeface="Arial MT"/>
                <a:cs typeface="Arial MT"/>
              </a:rPr>
              <a:t>global communication.</a:t>
            </a:r>
            <a:endParaRPr lang="en-US" sz="2950" b="1" dirty="0" smtClean="0">
              <a:latin typeface="Arial MT"/>
              <a:cs typeface="Arial MT"/>
            </a:endParaRPr>
          </a:p>
          <a:p>
            <a:pPr marL="584835" indent="-571500">
              <a:lnSpc>
                <a:spcPct val="100000"/>
              </a:lnSpc>
              <a:spcBef>
                <a:spcPts val="2615"/>
              </a:spcBef>
              <a:buFont typeface="Wingdings" panose="05000000000000000000" pitchFamily="2" charset="2"/>
              <a:buChar char="q"/>
              <a:tabLst>
                <a:tab pos="668655" algn="l"/>
              </a:tabLst>
            </a:pPr>
            <a:r>
              <a:rPr sz="3600" dirty="0">
                <a:solidFill>
                  <a:srgbClr val="1875E4"/>
                </a:solidFill>
                <a:latin typeface="Arial MT"/>
                <a:cs typeface="Arial MT"/>
              </a:rPr>
              <a:t/>
            </a:r>
            <a:r>
              <a:rPr sz="3600" dirty="0">
                <a:latin typeface="Arial MT"/>
                <a:cs typeface="Arial MT"/>
              </a:rPr>
              <a:t>• Scale </a:t>
            </a:r>
            <a:r>
              <a:rPr sz="3600" spc="229" dirty="0">
                <a:latin typeface="Arial MT"/>
                <a:cs typeface="Arial MT"/>
              </a:rPr>
              <a:t>operations </a:t>
            </a:r>
            <a:r>
              <a:rPr sz="3600" dirty="0">
                <a:latin typeface="Arial MT"/>
                <a:cs typeface="Arial MT"/>
              </a:rPr>
              <a:t>seamlessly by </a:t>
            </a:r>
            <a:r>
              <a:rPr sz="3600" spc="385" dirty="0">
                <a:latin typeface="Arial MT"/>
                <a:cs typeface="Arial MT"/>
              </a:rPr>
              <a:t>supporting </a:t>
            </a:r>
            <a:r>
              <a:rPr sz="3600" dirty="0">
                <a:latin typeface="Arial MT"/>
                <a:cs typeface="Arial MT"/>
              </a:rPr>
              <a:t/>
            </a:r>
            <a:r>
              <a:rPr sz="3600" spc="300" dirty="0">
                <a:latin typeface="Arial MT"/>
                <a:cs typeface="Arial MT"/>
              </a:rPr>
              <a:t>thousands </a:t>
            </a:r>
            <a:r>
              <a:rPr sz="3600" dirty="0">
                <a:solidFill>
                  <a:srgbClr val="0E0E0E"/>
                </a:solidFill>
                <a:latin typeface="Arial MT"/>
                <a:cs typeface="Arial MT"/>
              </a:rPr>
              <a:t>of language </a:t>
            </a:r>
            <a:r>
              <a:rPr sz="3600" spc="305" dirty="0">
                <a:solidFill>
                  <a:srgbClr val="0E0E0E"/>
                </a:solidFill>
                <a:latin typeface="Arial MT"/>
                <a:cs typeface="Arial MT"/>
              </a:rPr>
              <a:t/>
            </a:r>
            <a:r>
              <a:rPr sz="3600" spc="-10" dirty="0">
                <a:solidFill>
                  <a:srgbClr val="0F0F0F"/>
                </a:solidFill>
                <a:latin typeface="Arial MT"/>
                <a:cs typeface="Arial MT"/>
              </a:rPr>
              <a:t>pair combinations.</a:t>
            </a:r>
            <a:endParaRPr sz="3600" dirty="0">
              <a:latin typeface="Arial MT"/>
              <a:cs typeface="Arial MT"/>
            </a:endParaRPr>
          </a:p>
          <a:p>
            <a:pPr marL="678815" marR="655320" indent="-666750">
              <a:lnSpc>
                <a:spcPct val="110500"/>
              </a:lnSpc>
              <a:spcBef>
                <a:spcPts val="2865"/>
              </a:spcBef>
              <a:buFont typeface="Wingdings" panose="05000000000000000000" pitchFamily="2" charset="2"/>
              <a:buChar char="q"/>
              <a:tabLst>
                <a:tab pos="667385" algn="l"/>
              </a:tabLst>
            </a:pPr>
            <a:r>
              <a:rPr sz="3600" dirty="0">
                <a:solidFill>
                  <a:srgbClr val="1D70E6"/>
                </a:solidFill>
                <a:latin typeface="Arial MT"/>
                <a:cs typeface="Arial MT"/>
              </a:rPr>
              <a:t/>
            </a:r>
            <a:r>
              <a:rPr sz="3600" spc="-85" dirty="0">
                <a:solidFill>
                  <a:srgbClr val="0F0F0F"/>
                </a:solidFill>
                <a:latin typeface="Arial MT"/>
                <a:cs typeface="Arial MT"/>
              </a:rPr>
              <a:t>• </a:t>
            </a:r>
            <a:r>
              <a:rPr sz="3600" spc="-160" dirty="0">
                <a:solidFill>
                  <a:srgbClr val="0F0F0F"/>
                </a:solidFill>
                <a:latin typeface="Arial MT"/>
                <a:cs typeface="Arial MT"/>
              </a:rPr>
              <a:t/>
            </a:r>
            <a:r>
              <a:rPr sz="3600" dirty="0">
                <a:solidFill>
                  <a:srgbClr val="0F0F0F"/>
                </a:solidFill>
                <a:latin typeface="Arial MT"/>
                <a:cs typeface="Arial MT"/>
              </a:rPr>
              <a:t>Process millions </a:t>
            </a:r>
            <a:r>
              <a:rPr sz="3600" spc="-110" dirty="0">
                <a:solidFill>
                  <a:srgbClr val="0F0F0F"/>
                </a:solidFill>
                <a:latin typeface="Arial MT"/>
                <a:cs typeface="Arial MT"/>
              </a:rPr>
              <a:t/>
            </a:r>
            <a:r>
              <a:rPr sz="3600" dirty="0">
                <a:solidFill>
                  <a:srgbClr val="151515"/>
                </a:solidFill>
                <a:latin typeface="Arial MT"/>
                <a:cs typeface="Arial MT"/>
              </a:rPr>
              <a:t>of </a:t>
            </a:r>
            <a:r>
              <a:rPr sz="3600" spc="-135" dirty="0">
                <a:solidFill>
                  <a:srgbClr val="151515"/>
                </a:solidFill>
                <a:latin typeface="Arial MT"/>
                <a:cs typeface="Arial MT"/>
              </a:rPr>
              <a:t/>
            </a:r>
            <a:r>
              <a:rPr sz="3600" dirty="0">
                <a:solidFill>
                  <a:srgbClr val="0F0F0F"/>
                </a:solidFill>
                <a:latin typeface="Arial MT"/>
                <a:cs typeface="Arial MT"/>
              </a:rPr>
              <a:t>daily </a:t>
            </a:r>
            <a:r>
              <a:rPr sz="3600" spc="-110" dirty="0">
                <a:solidFill>
                  <a:srgbClr val="0F0F0F"/>
                </a:solidFill>
                <a:latin typeface="Arial MT"/>
                <a:cs typeface="Arial MT"/>
              </a:rPr>
              <a:t/>
            </a:r>
            <a:r>
              <a:rPr sz="3600" dirty="0">
                <a:solidFill>
                  <a:srgbClr val="131313"/>
                </a:solidFill>
                <a:latin typeface="Arial MT"/>
                <a:cs typeface="Arial MT"/>
              </a:rPr>
              <a:t>requests </a:t>
            </a:r>
            <a:r>
              <a:rPr sz="3600" spc="-45" dirty="0">
                <a:solidFill>
                  <a:srgbClr val="131313"/>
                </a:solidFill>
                <a:latin typeface="Arial MT"/>
                <a:cs typeface="Arial MT"/>
              </a:rPr>
              <a:t/>
            </a:r>
            <a:r>
              <a:rPr sz="3600" spc="-35" dirty="0">
                <a:solidFill>
                  <a:srgbClr val="181818"/>
                </a:solidFill>
                <a:latin typeface="Arial MT"/>
                <a:cs typeface="Arial MT"/>
              </a:rPr>
              <a:t>with industry-leading </a:t>
            </a:r>
            <a:r>
              <a:rPr sz="3600" spc="-10" dirty="0">
                <a:solidFill>
                  <a:srgbClr val="0F0F0F"/>
                </a:solidFill>
                <a:latin typeface="Arial MT"/>
                <a:cs typeface="Arial MT"/>
              </a:rPr>
              <a:t>translation accuracy.</a:t>
            </a:r>
            <a:endParaRPr sz="3600" dirty="0">
              <a:latin typeface="Arial MT"/>
              <a:cs typeface="Arial MT"/>
            </a:endParaRPr>
          </a:p>
          <a:p>
            <a:pPr marL="674370" marR="566420" indent="-661670">
              <a:lnSpc>
                <a:spcPct val="113799"/>
              </a:lnSpc>
              <a:spcBef>
                <a:spcPts val="2825"/>
              </a:spcBef>
              <a:buFont typeface="Wingdings" panose="05000000000000000000" pitchFamily="2" charset="2"/>
              <a:buChar char="q"/>
              <a:tabLst>
                <a:tab pos="666750" algn="l"/>
              </a:tabLst>
            </a:pPr>
            <a:r>
              <a:rPr sz="3600" dirty="0" smtClean="0">
                <a:solidFill>
                  <a:srgbClr val="1A72E6"/>
                </a:solidFill>
                <a:latin typeface="Arial MT"/>
                <a:cs typeface="Arial MT"/>
              </a:rPr>
              <a:t/>
            </a:r>
            <a:r>
              <a:rPr sz="3600" dirty="0" smtClean="0">
                <a:solidFill>
                  <a:srgbClr val="131313"/>
                </a:solidFill>
                <a:latin typeface="Arial MT"/>
                <a:cs typeface="Arial MT"/>
              </a:rPr>
              <a:t>• Drive </a:t>
            </a:r>
            <a:r>
              <a:rPr sz="3600" spc="430" dirty="0" smtClean="0">
                <a:solidFill>
                  <a:srgbClr val="131313"/>
                </a:solidFill>
                <a:latin typeface="Arial MT"/>
                <a:cs typeface="Arial MT"/>
              </a:rPr>
              <a:t/>
            </a:r>
            <a:r>
              <a:rPr sz="3600" dirty="0">
                <a:solidFill>
                  <a:srgbClr val="0F0F0F"/>
                </a:solidFill>
                <a:latin typeface="Arial MT"/>
                <a:cs typeface="Arial MT"/>
              </a:rPr>
              <a:t>global </a:t>
            </a:r>
            <a:r>
              <a:rPr sz="3600" spc="30" dirty="0">
                <a:solidFill>
                  <a:srgbClr val="0F0F0F"/>
                </a:solidFill>
                <a:latin typeface="Arial MT"/>
                <a:cs typeface="Arial MT"/>
              </a:rPr>
              <a:t/>
            </a:r>
            <a:r>
              <a:rPr sz="3600" dirty="0">
                <a:solidFill>
                  <a:srgbClr val="151515"/>
                </a:solidFill>
                <a:latin typeface="Arial MT"/>
                <a:cs typeface="Arial MT"/>
              </a:rPr>
              <a:t>engagement </a:t>
            </a:r>
            <a:r>
              <a:rPr sz="3600" spc="150" dirty="0">
                <a:solidFill>
                  <a:srgbClr val="151515"/>
                </a:solidFill>
                <a:latin typeface="Arial MT"/>
                <a:cs typeface="Arial MT"/>
              </a:rPr>
              <a:t>across </a:t>
            </a:r>
            <a:r>
              <a:rPr sz="3600" dirty="0">
                <a:solidFill>
                  <a:srgbClr val="0E0E0E"/>
                </a:solidFill>
                <a:latin typeface="Arial MT"/>
                <a:cs typeface="Arial MT"/>
              </a:rPr>
              <a:t/>
            </a:r>
            <a:r>
              <a:rPr sz="3600" spc="95" dirty="0">
                <a:solidFill>
                  <a:srgbClr val="0E0E0E"/>
                </a:solidFill>
                <a:latin typeface="Arial MT"/>
                <a:cs typeface="Arial MT"/>
              </a:rPr>
              <a:t>retail, </a:t>
            </a:r>
            <a:r>
              <a:rPr sz="3600" spc="-10" dirty="0">
                <a:solidFill>
                  <a:srgbClr val="111111"/>
                </a:solidFill>
                <a:latin typeface="Arial MT"/>
                <a:cs typeface="Arial MT"/>
              </a:rPr>
              <a:t>finance, and </a:t>
            </a:r>
            <a:r>
              <a:rPr sz="3600" spc="-10" dirty="0">
                <a:solidFill>
                  <a:srgbClr val="0C0C0C"/>
                </a:solidFill>
                <a:latin typeface="Arial MT"/>
                <a:cs typeface="Arial MT"/>
              </a:rPr>
              <a:t>healthcare sectors.</a:t>
            </a:r>
            <a:endParaRPr sz="36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875121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5650" y="1235075"/>
            <a:ext cx="18458982" cy="1055043"/>
          </a:xfrm>
          <a:prstGeom prst="rect">
            <a:avLst/>
          </a:prstGeom>
        </p:spPr>
        <p:txBody>
          <a:bodyPr vert="horz" wrap="square" lIns="0" tIns="130439" rIns="0" bIns="0" rtlCol="0">
            <a:spAutoFit/>
          </a:bodyPr>
          <a:lstStyle/>
          <a:p>
            <a:pPr marL="605790">
              <a:lnSpc>
                <a:spcPct val="100000"/>
              </a:lnSpc>
              <a:spcBef>
                <a:spcPts val="114"/>
              </a:spcBef>
            </a:pPr>
            <a:r>
              <a:rPr sz="6000" b="1" spc="240" dirty="0" smtClean="0">
                <a:solidFill>
                  <a:srgbClr val="1D70E8"/>
                </a:solidFill>
              </a:rPr>
              <a:t>Google Cloud AI: Core </a:t>
            </a:r>
            <a:r>
              <a:rPr lang="en-US" sz="6000" b="1" spc="240" dirty="0" smtClean="0">
                <a:solidFill>
                  <a:srgbClr val="1D70E8"/>
                </a:solidFill>
              </a:rPr>
              <a:t>Capabilities</a:t>
            </a:r>
            <a:endParaRPr sz="6000" b="1" dirty="0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23900" y="3245564"/>
            <a:ext cx="1892935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Custom Development: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Accelerate retail and finance model deployment </a:t>
            </a:r>
            <a:r>
              <a:rPr kumimoji="0" lang="en-US" sz="3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5x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AutoML and Vertex AI.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High-Performance Infrastructure: Reduce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network training time by up to 80% with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TPU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acceleration.</a:t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Language Intelligence: Support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global customer operations by processing 100+ languages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 Natural Language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/>
            </a:r>
            <a:r>
              <a:rPr kumimoji="0" lang="en-US" sz="3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 xml:space="preserve">and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Translation APIs.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</a:p>
          <a:p>
            <a:pPr marL="571500" marR="0" lvl="0" indent="-5715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Perception &amp;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Sensory AI: Automate healthcare diagnostics and security monitoring through real-time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Vision,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Video,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Speech 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API </a:t>
            </a:r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analysis.</a:t>
            </a:r>
            <a:r>
              <a:rPr kumimoji="0" 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492289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27450" y="3063875"/>
            <a:ext cx="10896600" cy="457625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lang="en-US" sz="12600" spc="-110" dirty="0" smtClean="0">
                <a:solidFill>
                  <a:srgbClr val="4285F6"/>
                </a:solidFill>
              </a:rPr>
              <a:t>Questions? </a:t>
            </a:r>
            <a:br>
              <a:rPr lang="en-US" sz="12600" spc="-110" dirty="0" smtClean="0">
                <a:solidFill>
                  <a:srgbClr val="4285F6"/>
                </a:solidFill>
              </a:rPr>
            </a:br>
            <a:r>
              <a:rPr lang="en-US" sz="12600" spc="-110" dirty="0" smtClean="0">
                <a:solidFill>
                  <a:srgbClr val="4285F6"/>
                </a:solidFill>
              </a:rPr>
              <a:t/>
            </a:r>
            <a:r>
              <a:rPr sz="12600" spc="-110" dirty="0" smtClean="0">
                <a:solidFill>
                  <a:srgbClr val="4285F6"/>
                </a:solidFill>
              </a:rPr>
              <a:t>Thank </a:t>
            </a:r>
            <a:r>
              <a:rPr lang="en-US" sz="12600" dirty="0" smtClean="0"/>
              <a:t/>
            </a:r>
            <a:br>
              <a:rPr lang="en-US" sz="12600" dirty="0" smtClean="0"/>
            </a:br>
            <a:r>
              <a:rPr sz="4350" spc="-114" dirty="0" smtClean="0">
                <a:solidFill>
                  <a:srgbClr val="525252"/>
                </a:solidFill>
              </a:rPr>
              <a:t>you </a:t>
            </a:r>
            <a:r>
              <a:rPr sz="4350" spc="-150" dirty="0" smtClean="0">
                <a:solidFill>
                  <a:srgbClr val="525252"/>
                </a:solidFill>
              </a:rPr>
              <a:t/>
            </a:r>
            <a:r>
              <a:rPr sz="4350" spc="-85" dirty="0">
                <a:solidFill>
                  <a:srgbClr val="525252"/>
                </a:solidFill>
              </a:rPr>
              <a:t>for </a:t>
            </a:r>
            <a:r>
              <a:rPr sz="4350" spc="-220" dirty="0">
                <a:solidFill>
                  <a:srgbClr val="525252"/>
                </a:solidFill>
              </a:rPr>
              <a:t/>
            </a:r>
            <a:r>
              <a:rPr sz="4350" dirty="0">
                <a:solidFill>
                  <a:srgbClr val="565656"/>
                </a:solidFill>
              </a:rPr>
              <a:t/>
            </a:r>
            <a:r>
              <a:rPr sz="4350" spc="-95" dirty="0">
                <a:solidFill>
                  <a:srgbClr val="565656"/>
                </a:solidFill>
              </a:rPr>
              <a:t/>
            </a:r>
            <a:r>
              <a:rPr sz="4350" spc="-65" dirty="0">
                <a:solidFill>
                  <a:srgbClr val="545454"/>
                </a:solidFill>
              </a:rPr>
              <a:t>your </a:t>
            </a:r>
            <a:r>
              <a:rPr sz="4350" spc="-135" dirty="0">
                <a:solidFill>
                  <a:srgbClr val="545454"/>
                </a:solidFill>
              </a:rPr>
              <a:t/>
            </a:r>
            <a:r>
              <a:rPr sz="4350" spc="-10" dirty="0">
                <a:solidFill>
                  <a:srgbClr val="525252"/>
                </a:solidFill>
              </a:rPr>
              <a:t>time.</a:t>
            </a:r>
            <a:endParaRPr sz="4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299</Words>
  <Application>Microsoft Office PowerPoint</Application>
  <PresentationFormat>Custom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MT</vt:lpstr>
      <vt:lpstr>Calibri</vt:lpstr>
      <vt:lpstr>Wingdings</vt:lpstr>
      <vt:lpstr>Office Theme</vt:lpstr>
      <vt:lpstr>PowerPoint Presentation</vt:lpstr>
      <vt:lpstr>What is Cloud AI?</vt:lpstr>
      <vt:lpstr>Cloud TPU: Tensor Processing Unit</vt:lpstr>
      <vt:lpstr> BUILDING YOUR OWN AI</vt:lpstr>
      <vt:lpstr> Cloud Natural Language</vt:lpstr>
      <vt:lpstr>Vision &amp;Video Intelligence</vt:lpstr>
      <vt:lpstr>Cloud Translation API</vt:lpstr>
      <vt:lpstr>Summary:</vt:lpstr>
      <vt:lpstr>Any Questions? Thank you for your time!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Ayesha baig</dc:creator>
  <cp:lastModifiedBy>dell</cp:lastModifiedBy>
  <cp:revision>8</cp:revision>
  <dcterms:created xsi:type="dcterms:W3CDTF">2026-05-15T17:07:23Z</dcterms:created>
  <dcterms:modified xsi:type="dcterms:W3CDTF">2026-05-15T18:12:16Z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2026-05-15T00:00:00Z</vt:filetime>
  </property>
  <property fmtid="{D5CDD505-2E9C-101B-9397-08002B2CF9AE}" pid="3" name="LastSaved">
    <vt:filetime>2026-05-15T00:00:00Z</vt:filetime>
  </property>
</Properties>
</file>